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charts/chart3.xml" ContentType="application/vnd.openxmlformats-officedocument.drawingml.chart+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handoutMasterIdLst>
    <p:handoutMasterId r:id="rId13"/>
  </p:handoutMasterIdLst>
  <p:sldIdLst>
    <p:sldId id="256" r:id="rId2"/>
    <p:sldId id="266" r:id="rId3"/>
    <p:sldId id="257" r:id="rId4"/>
    <p:sldId id="258" r:id="rId5"/>
    <p:sldId id="259" r:id="rId6"/>
    <p:sldId id="260" r:id="rId7"/>
    <p:sldId id="261" r:id="rId8"/>
    <p:sldId id="262" r:id="rId9"/>
    <p:sldId id="267"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24" d="100"/>
          <a:sy n="124" d="100"/>
        </p:scale>
        <p:origin x="640" y="248"/>
      </p:cViewPr>
      <p:guideLst/>
    </p:cSldViewPr>
  </p:slideViewPr>
  <p:notesTextViewPr>
    <p:cViewPr>
      <p:scale>
        <a:sx n="1" d="1"/>
        <a:sy n="1" d="1"/>
      </p:scale>
      <p:origin x="0" y="0"/>
    </p:cViewPr>
  </p:notesTextViewPr>
  <p:notesViewPr>
    <p:cSldViewPr snapToGrid="0" snapToObjects="1">
      <p:cViewPr varScale="1">
        <p:scale>
          <a:sx n="72" d="100"/>
          <a:sy n="72" d="100"/>
        </p:scale>
        <p:origin x="4872" y="21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0E3B4A"/>
                </a:solidFill>
                <a:latin typeface="+mn-lt"/>
              </a:defRPr>
            </a:pPr>
            <a:r>
              <a:rPr sz="1200" b="0" i="0" u="none" strike="noStrike">
                <a:solidFill>
                  <a:srgbClr val="0E3B4A"/>
                </a:solidFill>
                <a:latin typeface="+mn-lt"/>
              </a:rPr>
              <a:t>India → hotel nationality, December (top 10 weights)</a:t>
            </a:r>
          </a:p>
        </c:rich>
      </c:tx>
      <c:overlay val="0"/>
    </c:title>
    <c:autoTitleDeleted val="0"/>
    <c:plotArea>
      <c:layout/>
      <c:barChart>
        <c:barDir val="bar"/>
        <c:grouping val="clustered"/>
        <c:varyColors val="0"/>
        <c:ser>
          <c:idx val="0"/>
          <c:order val="0"/>
          <c:tx>
            <c:strRef>
              <c:f>Sheet1!$B$1</c:f>
              <c:strCache>
                <c:ptCount val="1"/>
                <c:pt idx="0">
                  <c:v>Weight</c:v>
                </c:pt>
              </c:strCache>
            </c:strRef>
          </c:tx>
          <c:spPr>
            <a:solidFill>
              <a:srgbClr val="0E7C86"/>
            </a:solidFill>
            <a:effectLst/>
          </c:spPr>
          <c:invertIfNegative val="0"/>
          <c:dLbls>
            <c:numFmt formatCode="0.0&quot;%&quot;" sourceLinked="0"/>
            <c:spPr>
              <a:noFill/>
              <a:ln>
                <a:noFill/>
              </a:ln>
              <a:effectLst/>
            </c:spPr>
            <c:txPr>
              <a:bodyPr/>
              <a:lstStyle/>
              <a:p>
                <a:pPr>
                  <a:defRPr sz="1000" b="0" i="0" u="none" strike="noStrike">
                    <a:solidFill>
                      <a:srgbClr val="1B2430"/>
                    </a:solidFill>
                    <a:latin typeface="+mn-lt"/>
                  </a:defRPr>
                </a:pPr>
                <a:endParaRPr lang="en-A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Kazakhstan</c:v>
                </c:pt>
                <c:pt idx="1">
                  <c:v>Saudi Arabia</c:v>
                </c:pt>
                <c:pt idx="2">
                  <c:v>France</c:v>
                </c:pt>
                <c:pt idx="3">
                  <c:v>Germany</c:v>
                </c:pt>
                <c:pt idx="4">
                  <c:v>Italy</c:v>
                </c:pt>
                <c:pt idx="5">
                  <c:v>USA</c:v>
                </c:pt>
                <c:pt idx="6">
                  <c:v>Russian Fed.</c:v>
                </c:pt>
                <c:pt idx="7">
                  <c:v>United Kingdom</c:v>
                </c:pt>
                <c:pt idx="8">
                  <c:v>China</c:v>
                </c:pt>
                <c:pt idx="9">
                  <c:v>India</c:v>
                </c:pt>
              </c:strCache>
            </c:strRef>
          </c:cat>
          <c:val>
            <c:numRef>
              <c:f>Sheet1!$B$2:$B$11</c:f>
              <c:numCache>
                <c:formatCode>General</c:formatCode>
                <c:ptCount val="10"/>
                <c:pt idx="0">
                  <c:v>1.5</c:v>
                </c:pt>
                <c:pt idx="1">
                  <c:v>1.6</c:v>
                </c:pt>
                <c:pt idx="2">
                  <c:v>1.7</c:v>
                </c:pt>
                <c:pt idx="3">
                  <c:v>1.7</c:v>
                </c:pt>
                <c:pt idx="4">
                  <c:v>1.8</c:v>
                </c:pt>
                <c:pt idx="5">
                  <c:v>2.6</c:v>
                </c:pt>
                <c:pt idx="6">
                  <c:v>4.7</c:v>
                </c:pt>
                <c:pt idx="7">
                  <c:v>5.4</c:v>
                </c:pt>
                <c:pt idx="8">
                  <c:v>5.5</c:v>
                </c:pt>
                <c:pt idx="9">
                  <c:v>56.4</c:v>
                </c:pt>
              </c:numCache>
            </c:numRef>
          </c:val>
          <c:extLst>
            <c:ext xmlns:c16="http://schemas.microsoft.com/office/drawing/2014/chart" uri="{C3380CC4-5D6E-409C-BE32-E72D297353CC}">
              <c16:uniqueId val="{00000000-42C1-9B45-9BC1-2F72F48D6761}"/>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B2430"/>
                </a:solidFill>
                <a:latin typeface="+mn-lt"/>
              </a:defRPr>
            </a:pPr>
            <a:endParaRPr lang="en-US"/>
          </a:p>
        </c:txPr>
        <c:crossAx val="2094734552"/>
        <c:crosses val="autoZero"/>
        <c:auto val="1"/>
        <c:lblAlgn val="ctr"/>
        <c:lblOffset val="100"/>
        <c:noMultiLvlLbl val="1"/>
      </c:catAx>
      <c:valAx>
        <c:axId val="2094734552"/>
        <c:scaling>
          <c:orientation val="minMax"/>
          <c:max val="65"/>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0E3B4A"/>
                </a:solidFill>
                <a:latin typeface="+mn-lt"/>
              </a:defRPr>
            </a:pPr>
            <a:r>
              <a:rPr sz="1200" b="0" i="0" u="none" strike="noStrike">
                <a:solidFill>
                  <a:srgbClr val="0E3B4A"/>
                </a:solidFill>
                <a:latin typeface="+mn-lt"/>
              </a:rPr>
              <a:t>Monthly international hotel check-ins, Jan–Jul 2025</a:t>
            </a:r>
          </a:p>
        </c:rich>
      </c:tx>
      <c:overlay val="0"/>
    </c:title>
    <c:autoTitleDeleted val="0"/>
    <c:plotArea>
      <c:layout/>
      <c:lineChart>
        <c:grouping val="standard"/>
        <c:varyColors val="0"/>
        <c:ser>
          <c:idx val="0"/>
          <c:order val="0"/>
          <c:tx>
            <c:strRef>
              <c:f>Sheet1!$B$1</c:f>
              <c:strCache>
                <c:ptCount val="1"/>
                <c:pt idx="0">
                  <c:v>Actual (hotel New Arrivals)</c:v>
                </c:pt>
              </c:strCache>
            </c:strRef>
          </c:tx>
          <c:spPr>
            <a:ln w="28575" cap="flat">
              <a:solidFill>
                <a:srgbClr val="1B2430"/>
              </a:solidFill>
              <a:prstDash val="solid"/>
              <a:round/>
            </a:ln>
            <a:effectLst/>
          </c:spPr>
          <c:marker>
            <c:symbol val="circle"/>
            <c:size val="6"/>
            <c:spPr>
              <a:solidFill>
                <a:srgbClr val="1B2430"/>
              </a:solidFill>
              <a:ln w="9525" cap="flat">
                <a:solidFill>
                  <a:srgbClr val="1B2430"/>
                </a:solidFill>
                <a:prstDash val="solid"/>
                <a:round/>
              </a:ln>
              <a:effectLst/>
            </c:spPr>
          </c:marker>
          <c:cat>
            <c:strRef>
              <c:f>Sheet1!$A$2:$A$8</c:f>
              <c:strCache>
                <c:ptCount val="7"/>
                <c:pt idx="0">
                  <c:v>Jan 25</c:v>
                </c:pt>
                <c:pt idx="1">
                  <c:v>Feb 25</c:v>
                </c:pt>
                <c:pt idx="2">
                  <c:v>Mar 25</c:v>
                </c:pt>
                <c:pt idx="3">
                  <c:v>Apr 25</c:v>
                </c:pt>
                <c:pt idx="4">
                  <c:v>May 25</c:v>
                </c:pt>
                <c:pt idx="5">
                  <c:v>Jun 25</c:v>
                </c:pt>
                <c:pt idx="6">
                  <c:v>Jul 25</c:v>
                </c:pt>
              </c:strCache>
            </c:strRef>
          </c:cat>
          <c:val>
            <c:numRef>
              <c:f>Sheet1!$B$2:$B$8</c:f>
              <c:numCache>
                <c:formatCode>General</c:formatCode>
                <c:ptCount val="7"/>
                <c:pt idx="0">
                  <c:v>281088</c:v>
                </c:pt>
                <c:pt idx="1">
                  <c:v>226737</c:v>
                </c:pt>
                <c:pt idx="2">
                  <c:v>194162</c:v>
                </c:pt>
                <c:pt idx="3">
                  <c:v>245515</c:v>
                </c:pt>
                <c:pt idx="4">
                  <c:v>201695</c:v>
                </c:pt>
                <c:pt idx="5">
                  <c:v>190713</c:v>
                </c:pt>
                <c:pt idx="6">
                  <c:v>210769</c:v>
                </c:pt>
              </c:numCache>
            </c:numRef>
          </c:val>
          <c:smooth val="0"/>
          <c:extLst>
            <c:ext xmlns:c16="http://schemas.microsoft.com/office/drawing/2014/chart" uri="{C3380CC4-5D6E-409C-BE32-E72D297353CC}">
              <c16:uniqueId val="{00000000-5A55-114D-BEE3-BB812A2F25AB}"/>
            </c:ext>
          </c:extLst>
        </c:ser>
        <c:ser>
          <c:idx val="1"/>
          <c:order val="1"/>
          <c:tx>
            <c:strRef>
              <c:f>Sheet1!$C$1</c:f>
              <c:strCache>
                <c:ptCount val="1"/>
                <c:pt idx="0">
                  <c:v>Transparent chain</c:v>
                </c:pt>
              </c:strCache>
            </c:strRef>
          </c:tx>
          <c:spPr>
            <a:ln w="28575" cap="flat">
              <a:solidFill>
                <a:srgbClr val="0E7C86"/>
              </a:solidFill>
              <a:prstDash val="solid"/>
              <a:round/>
            </a:ln>
            <a:effectLst/>
          </c:spPr>
          <c:marker>
            <c:symbol val="circle"/>
            <c:size val="6"/>
            <c:spPr>
              <a:solidFill>
                <a:srgbClr val="0E7C86"/>
              </a:solidFill>
              <a:ln w="9525" cap="flat">
                <a:solidFill>
                  <a:srgbClr val="0E7C86"/>
                </a:solidFill>
                <a:prstDash val="solid"/>
                <a:round/>
              </a:ln>
              <a:effectLst/>
            </c:spPr>
          </c:marker>
          <c:cat>
            <c:strRef>
              <c:f>Sheet1!$A$2:$A$8</c:f>
              <c:strCache>
                <c:ptCount val="7"/>
                <c:pt idx="0">
                  <c:v>Jan 25</c:v>
                </c:pt>
                <c:pt idx="1">
                  <c:v>Feb 25</c:v>
                </c:pt>
                <c:pt idx="2">
                  <c:v>Mar 25</c:v>
                </c:pt>
                <c:pt idx="3">
                  <c:v>Apr 25</c:v>
                </c:pt>
                <c:pt idx="4">
                  <c:v>May 25</c:v>
                </c:pt>
                <c:pt idx="5">
                  <c:v>Jun 25</c:v>
                </c:pt>
                <c:pt idx="6">
                  <c:v>Jul 25</c:v>
                </c:pt>
              </c:strCache>
            </c:strRef>
          </c:cat>
          <c:val>
            <c:numRef>
              <c:f>Sheet1!$C$2:$C$8</c:f>
              <c:numCache>
                <c:formatCode>General</c:formatCode>
                <c:ptCount val="7"/>
                <c:pt idx="0">
                  <c:v>237852</c:v>
                </c:pt>
                <c:pt idx="1">
                  <c:v>228397</c:v>
                </c:pt>
                <c:pt idx="2">
                  <c:v>214400</c:v>
                </c:pt>
                <c:pt idx="3">
                  <c:v>251286</c:v>
                </c:pt>
                <c:pt idx="4">
                  <c:v>206813</c:v>
                </c:pt>
                <c:pt idx="5">
                  <c:v>180766</c:v>
                </c:pt>
                <c:pt idx="6">
                  <c:v>189591</c:v>
                </c:pt>
              </c:numCache>
            </c:numRef>
          </c:val>
          <c:smooth val="0"/>
          <c:extLst>
            <c:ext xmlns:c16="http://schemas.microsoft.com/office/drawing/2014/chart" uri="{C3380CC4-5D6E-409C-BE32-E72D297353CC}">
              <c16:uniqueId val="{00000001-5A55-114D-BEE3-BB812A2F25AB}"/>
            </c:ext>
          </c:extLst>
        </c:ser>
        <c:ser>
          <c:idx val="2"/>
          <c:order val="2"/>
          <c:tx>
            <c:strRef>
              <c:f>Sheet1!$D$1</c:f>
              <c:strCache>
                <c:ptCount val="1"/>
                <c:pt idx="0">
                  <c:v>Hybrid (55% ridge + 45% chain)</c:v>
                </c:pt>
              </c:strCache>
            </c:strRef>
          </c:tx>
          <c:spPr>
            <a:ln w="28575" cap="flat">
              <a:solidFill>
                <a:srgbClr val="D4A03A"/>
              </a:solidFill>
              <a:prstDash val="solid"/>
              <a:round/>
            </a:ln>
            <a:effectLst/>
          </c:spPr>
          <c:marker>
            <c:symbol val="circle"/>
            <c:size val="6"/>
            <c:spPr>
              <a:solidFill>
                <a:srgbClr val="D4A03A"/>
              </a:solidFill>
              <a:ln w="9525" cap="flat">
                <a:solidFill>
                  <a:srgbClr val="D4A03A"/>
                </a:solidFill>
                <a:prstDash val="solid"/>
                <a:round/>
              </a:ln>
              <a:effectLst/>
            </c:spPr>
          </c:marker>
          <c:cat>
            <c:strRef>
              <c:f>Sheet1!$A$2:$A$8</c:f>
              <c:strCache>
                <c:ptCount val="7"/>
                <c:pt idx="0">
                  <c:v>Jan 25</c:v>
                </c:pt>
                <c:pt idx="1">
                  <c:v>Feb 25</c:v>
                </c:pt>
                <c:pt idx="2">
                  <c:v>Mar 25</c:v>
                </c:pt>
                <c:pt idx="3">
                  <c:v>Apr 25</c:v>
                </c:pt>
                <c:pt idx="4">
                  <c:v>May 25</c:v>
                </c:pt>
                <c:pt idx="5">
                  <c:v>Jun 25</c:v>
                </c:pt>
                <c:pt idx="6">
                  <c:v>Jul 25</c:v>
                </c:pt>
              </c:strCache>
            </c:strRef>
          </c:cat>
          <c:val>
            <c:numRef>
              <c:f>Sheet1!$D$2:$D$8</c:f>
              <c:numCache>
                <c:formatCode>General</c:formatCode>
                <c:ptCount val="7"/>
                <c:pt idx="0">
                  <c:v>257552</c:v>
                </c:pt>
                <c:pt idx="1">
                  <c:v>245994</c:v>
                </c:pt>
                <c:pt idx="2">
                  <c:v>222160</c:v>
                </c:pt>
                <c:pt idx="3">
                  <c:v>261686</c:v>
                </c:pt>
                <c:pt idx="4">
                  <c:v>214486</c:v>
                </c:pt>
                <c:pt idx="5">
                  <c:v>191843</c:v>
                </c:pt>
                <c:pt idx="6">
                  <c:v>199426</c:v>
                </c:pt>
              </c:numCache>
            </c:numRef>
          </c:val>
          <c:smooth val="0"/>
          <c:extLst>
            <c:ext xmlns:c16="http://schemas.microsoft.com/office/drawing/2014/chart" uri="{C3380CC4-5D6E-409C-BE32-E72D297353CC}">
              <c16:uniqueId val="{00000002-5A55-114D-BEE3-BB812A2F25AB}"/>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5B6B7A"/>
                </a:solidFill>
                <a:latin typeface="+mn-lt"/>
              </a:defRPr>
            </a:pPr>
            <a:endParaRPr lang="en-US"/>
          </a:p>
        </c:txPr>
        <c:crossAx val="2094734552"/>
        <c:crosses val="autoZero"/>
        <c:auto val="1"/>
        <c:lblAlgn val="ctr"/>
        <c:lblOffset val="100"/>
        <c:noMultiLvlLbl val="1"/>
      </c:catAx>
      <c:valAx>
        <c:axId val="2094734552"/>
        <c:scaling>
          <c:orientation val="minMax"/>
          <c:max val="300000"/>
          <c:min val="150000"/>
        </c:scaling>
        <c:delete val="0"/>
        <c:axPos val="l"/>
        <c:majorGridlines>
          <c:spPr>
            <a:ln w="6350" cap="flat">
              <a:solidFill>
                <a:srgbClr val="E3E8EB"/>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50" b="0" i="0" u="none" strike="noStrike">
                <a:solidFill>
                  <a:srgbClr val="5B6B7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50">
              <a:solidFill>
                <a:srgbClr val="1B2430"/>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0E3B4A"/>
                </a:solidFill>
                <a:latin typeface="+mn-lt"/>
              </a:defRPr>
            </a:pPr>
            <a:r>
              <a:rPr lang="en-US" sz="1200" b="0" i="0" u="none" strike="noStrike">
                <a:solidFill>
                  <a:srgbClr val="0E3B4A"/>
                </a:solidFill>
                <a:latin typeface="+mn-lt"/>
              </a:rPr>
              <a:t>Sensitivity: guest-night span, low vs. high input</a:t>
            </a:r>
          </a:p>
        </c:rich>
      </c:tx>
      <c:overlay val="0"/>
    </c:title>
    <c:autoTitleDeleted val="0"/>
    <c:plotArea>
      <c:layout/>
      <c:barChart>
        <c:barDir val="bar"/>
        <c:grouping val="clustered"/>
        <c:varyColors val="0"/>
        <c:ser>
          <c:idx val="0"/>
          <c:order val="0"/>
          <c:tx>
            <c:strRef>
              <c:f>Sheet1!$B$1</c:f>
              <c:strCache>
                <c:ptCount val="1"/>
                <c:pt idx="0">
                  <c:v>Span</c:v>
                </c:pt>
              </c:strCache>
            </c:strRef>
          </c:tx>
          <c:spPr>
            <a:solidFill>
              <a:srgbClr val="D4A03A"/>
            </a:solidFill>
            <a:effectLst/>
          </c:spPr>
          <c:invertIfNegative val="0"/>
          <c:dLbls>
            <c:numFmt formatCode="#,##0" sourceLinked="0"/>
            <c:spPr>
              <a:noFill/>
              <a:ln>
                <a:noFill/>
              </a:ln>
              <a:effectLst/>
            </c:spPr>
            <c:txPr>
              <a:bodyPr/>
              <a:lstStyle/>
              <a:p>
                <a:pPr>
                  <a:defRPr sz="1000" b="0" i="0" u="none" strike="noStrike">
                    <a:solidFill>
                      <a:srgbClr val="1B2430"/>
                    </a:solidFill>
                    <a:latin typeface="+mn-lt"/>
                  </a:defRPr>
                </a:pPr>
                <a:endParaRPr lang="en-A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Seats/flight (±30)</c:v>
                </c:pt>
                <c:pt idx="1">
                  <c:v>Weekly flights (±1)</c:v>
                </c:pt>
                <c:pt idx="2">
                  <c:v>Load factor (±5 pts)</c:v>
                </c:pt>
                <c:pt idx="3">
                  <c:v>P2P share (±5 pts)</c:v>
                </c:pt>
                <c:pt idx="4">
                  <c:v>Hotel conversion (±5 pts)</c:v>
                </c:pt>
                <c:pt idx="5">
                  <c:v>Average stay (±0.5 night)</c:v>
                </c:pt>
              </c:strCache>
            </c:strRef>
          </c:cat>
          <c:val>
            <c:numRef>
              <c:f>Sheet1!$B$2:$B$7</c:f>
              <c:numCache>
                <c:formatCode>General</c:formatCode>
                <c:ptCount val="6"/>
                <c:pt idx="0">
                  <c:v>648</c:v>
                </c:pt>
                <c:pt idx="1">
                  <c:v>1411</c:v>
                </c:pt>
                <c:pt idx="2">
                  <c:v>27564</c:v>
                </c:pt>
                <c:pt idx="3">
                  <c:v>37131</c:v>
                </c:pt>
                <c:pt idx="4">
                  <c:v>57138</c:v>
                </c:pt>
                <c:pt idx="5">
                  <c:v>73144</c:v>
                </c:pt>
              </c:numCache>
            </c:numRef>
          </c:val>
          <c:extLst>
            <c:ext xmlns:c16="http://schemas.microsoft.com/office/drawing/2014/chart" uri="{C3380CC4-5D6E-409C-BE32-E72D297353CC}">
              <c16:uniqueId val="{00000000-4E90-9A4B-9BE5-182F6A5792C3}"/>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1B2430"/>
                </a:solidFill>
                <a:latin typeface="+mn-lt"/>
              </a:defRPr>
            </a:pPr>
            <a:endParaRPr lang="en-US"/>
          </a:p>
        </c:txPr>
        <c:crossAx val="2094734552"/>
        <c:crosses val="autoZero"/>
        <c:auto val="1"/>
        <c:lblAlgn val="ctr"/>
        <c:lblOffset val="100"/>
        <c:noMultiLvlLbl val="1"/>
      </c:catAx>
      <c:valAx>
        <c:axId val="2094734552"/>
        <c:scaling>
          <c:orientation val="minMax"/>
          <c:max val="88000"/>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38B4A6D-A12C-ED63-DCE3-7575DB7B4E3F}"/>
              </a:ext>
            </a:extLst>
          </p:cNvPr>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AE"/>
          </a:p>
        </p:txBody>
      </p:sp>
      <p:sp>
        <p:nvSpPr>
          <p:cNvPr id="3" name="Date Placeholder 2">
            <a:extLst>
              <a:ext uri="{FF2B5EF4-FFF2-40B4-BE49-F238E27FC236}">
                <a16:creationId xmlns:a16="http://schemas.microsoft.com/office/drawing/2014/main" id="{3AF9D7F8-3AD7-E5CD-2DDC-047936651CE4}"/>
              </a:ext>
            </a:extLst>
          </p:cNvPr>
          <p:cNvSpPr>
            <a:spLocks noGrp="1"/>
          </p:cNvSpPr>
          <p:nvPr>
            <p:ph type="dt" sz="quarter" idx="1"/>
          </p:nvPr>
        </p:nvSpPr>
        <p:spPr>
          <a:xfrm>
            <a:off x="3884613" y="0"/>
            <a:ext cx="2971800" cy="611188"/>
          </a:xfrm>
          <a:prstGeom prst="rect">
            <a:avLst/>
          </a:prstGeom>
        </p:spPr>
        <p:txBody>
          <a:bodyPr vert="horz" lIns="91440" tIns="45720" rIns="91440" bIns="45720" rtlCol="0"/>
          <a:lstStyle>
            <a:lvl1pPr algn="r">
              <a:defRPr sz="1200"/>
            </a:lvl1pPr>
          </a:lstStyle>
          <a:p>
            <a:fld id="{3D3E9D5F-8C75-0242-84EA-B03744395718}" type="datetimeFigureOut">
              <a:rPr lang="en-AE" smtClean="0"/>
              <a:t>10/10/2026</a:t>
            </a:fld>
            <a:endParaRPr lang="en-AE"/>
          </a:p>
        </p:txBody>
      </p:sp>
      <p:sp>
        <p:nvSpPr>
          <p:cNvPr id="4" name="Footer Placeholder 3">
            <a:extLst>
              <a:ext uri="{FF2B5EF4-FFF2-40B4-BE49-F238E27FC236}">
                <a16:creationId xmlns:a16="http://schemas.microsoft.com/office/drawing/2014/main" id="{3998C014-9211-46DE-6DB8-5570935D67F4}"/>
              </a:ext>
            </a:extLst>
          </p:cNvPr>
          <p:cNvSpPr>
            <a:spLocks noGrp="1"/>
          </p:cNvSpPr>
          <p:nvPr>
            <p:ph type="ftr" sz="quarter" idx="2"/>
          </p:nvPr>
        </p:nvSpPr>
        <p:spPr>
          <a:xfrm>
            <a:off x="0" y="11580813"/>
            <a:ext cx="2971800" cy="611187"/>
          </a:xfrm>
          <a:prstGeom prst="rect">
            <a:avLst/>
          </a:prstGeom>
        </p:spPr>
        <p:txBody>
          <a:bodyPr vert="horz" lIns="91440" tIns="45720" rIns="91440" bIns="45720" rtlCol="0" anchor="b"/>
          <a:lstStyle>
            <a:lvl1pPr algn="l">
              <a:defRPr sz="1200"/>
            </a:lvl1pPr>
          </a:lstStyle>
          <a:p>
            <a:endParaRPr lang="en-AE"/>
          </a:p>
        </p:txBody>
      </p:sp>
      <p:sp>
        <p:nvSpPr>
          <p:cNvPr id="5" name="Slide Number Placeholder 4">
            <a:extLst>
              <a:ext uri="{FF2B5EF4-FFF2-40B4-BE49-F238E27FC236}">
                <a16:creationId xmlns:a16="http://schemas.microsoft.com/office/drawing/2014/main" id="{7BA69507-F333-A30F-4C57-3D808F863C4B}"/>
              </a:ext>
            </a:extLst>
          </p:cNvPr>
          <p:cNvSpPr>
            <a:spLocks noGrp="1"/>
          </p:cNvSpPr>
          <p:nvPr>
            <p:ph type="sldNum" sz="quarter" idx="3"/>
          </p:nvPr>
        </p:nvSpPr>
        <p:spPr>
          <a:xfrm>
            <a:off x="3884613" y="11580813"/>
            <a:ext cx="2971800" cy="611187"/>
          </a:xfrm>
          <a:prstGeom prst="rect">
            <a:avLst/>
          </a:prstGeom>
        </p:spPr>
        <p:txBody>
          <a:bodyPr vert="horz" lIns="91440" tIns="45720" rIns="91440" bIns="45720" rtlCol="0" anchor="b"/>
          <a:lstStyle>
            <a:lvl1pPr algn="r">
              <a:defRPr sz="1200"/>
            </a:lvl1pPr>
          </a:lstStyle>
          <a:p>
            <a:fld id="{C93E33A2-C6C6-3C4E-B375-41A43995A8F4}" type="slidenum">
              <a:rPr lang="en-AE" smtClean="0"/>
              <a:t>‹#›</a:t>
            </a:fld>
            <a:endParaRPr lang="en-AE"/>
          </a:p>
        </p:txBody>
      </p:sp>
    </p:spTree>
    <p:extLst>
      <p:ext uri="{BB962C8B-B14F-4D97-AF65-F5344CB8AC3E}">
        <p14:creationId xmlns:p14="http://schemas.microsoft.com/office/powerpoint/2010/main" val="373177007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364681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Air2Stay lets a planner change a route, seat count or load factor and immediately see expected hotel check-ins and guest nights. Built for the DCT Abu Dhabi challenge in Advanced Technology Pioneers 2026. Sources: Technical Guide §1, Calculation Audit 'Worked example', Source Code document file map.</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Technical Guide §1 and §4 'Key findings', Table 15 examples; Audit workbook 'Source inventory' country coverage check (33 exact overlaps, 0 flight-only, 12 hotel-only). The problem: aviation and hotel teams plan from separate numbers, and many airport passengers never stay in an Abu Dhabi hotel.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Technical Guide Table 7 and Table 8 (source lineage); Audit workbook 'Source inventory' and 'Data lineage'. Hotel columns used: A Date, B Guests, C New Arrivals, D Same-Day Guests, E Nationality, F Residence. Excel data begin at row 2 (row 1 is the header). The standalone HTML contains derived aggregates only, not the row-level workbooks.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Technical Guide §6–7 and Tables 12–13; Audit 'Worked example' (exact: +730.90 check-ins, +2,706.48 guest nights) and 'Test scenarios' (India +3, full-precision: +636.8 check-ins, +2,111.8 guest nights). The guide (§14) acknowledges this difference. Global starting ratios (competition deck notes, model_report.json): weighted load factor 82.4%, P2P share 50.9%, global hotel capture 42.5%. A calibrator is a measured conversion assumption between two steps; load factor, P2P share, hotel conversion and average stay are the main ones. The JavaScript engine: monthlySeats = max(0, baselineSeats + extraWeeklyFlights*seatsPerFlight*weeksInMonth); passengers = seats*LF; p2p = passengers*P2P; checkins = p2p*conversion; nights = checkins*stay.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Technical Guide §8–9; Audit 'Country bridge' (India December weights: India 0.5644, China 0.0547, UK 0.0544, Russian Federation 0.0472, USA 0.0260, Italy 0.0179, Germany 0.0174, France 0.0172, Saudi Arabia 0.0163, Kazakhstan 0.0149); build_model.py lines 308–332 confirm the 0.35–2.5 clip, the ×6 prior and the ^0.7 exponent. Level correlation: are both series high/low in the same months? Change correlation: do they move together month to month? Correlation does not prove causation.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Technical Guide §10 and Tables 17–21; Audit 'Validation' sheet (monthly values and absolute errors); build_model.py (fit_ridge, alpha 4.0 for the flight-chain benchmark; ensemble = 0.55*ridge + 0.45*parametric). Black Actual line = international_train.xlsx column C New Arrivals summed over all days and nationalities. Daily stay split: 54,484 study rows (92.9%) vs 4,138 exam rows (7.1%). The daily stay models are per-nationality ridge models (alpha 12) using New Arrivals, Same-Day Guests, recent arrival lags, rolling averages and seasonal day patterns; they predict Guests from 1 May to 31 Jul 2025. A 6.91% WMAPE ≈ 7 check-ins of error per 100 actual across the validation period; it is not a software error.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Technical Guide §11 and Tables 22, 23, 26; Audit 'Worked example' (P10 219,185.2; P50 242,837.6; P90 260,006.2) and 'Sensitivity' sheet (spans 73,143.8 / 57,138.3 / 37,131.1 / 27,563.9 / 1,411.3 / 648.1). build_model.py uses np.quantile(residual_ratio, 0.10 and 0.90). Suggested phrasing: 'about 243 thousand guest nights, rough range 219–260 thousand'.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Technical Guide §14 (security, limitations Table 32, safeguards Table 31); competition deck slides 11–12. Note: the source files say raw competition files stay local and should not be published without DCT approval. If the Streamlit deployment exposes supplied data, check that against the challenge's confidentiality guidance.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11247120" cy="685800"/>
          </a:xfrm>
          <a:prstGeom prst="rect">
            <a:avLst/>
          </a:prstGeom>
          <a:noFill/>
          <a:ln/>
        </p:spPr>
        <p:txBody>
          <a:bodyPr wrap="square" rtlCol="0"/>
          <a:lstStyle>
            <a:lvl1pPr marL="0" indent="0" algn="l">
              <a:buNone/>
              <a:defRPr lang="en-US" sz="2800" b="1" dirty="0">
                <a:solidFill>
                  <a:srgbClr val="0E3B4A"/>
                </a:solidFill>
                <a:latin typeface="Cambria" pitchFamily="34" charset="0"/>
                <a:ea typeface="Cambria" pitchFamily="34" charset="-122"/>
                <a:cs typeface="Cambria" pitchFamily="34" charset="-120"/>
              </a:defRPr>
            </a:lvl1pPr>
          </a:lstStyle>
          <a:p>
            <a:pPr marL="0" indent="0" algn="l">
              <a:buNone/>
            </a:pPr>
            <a:endParaRPr lang="en-US" sz="28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7A"/>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E3B4A"/>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A9C3C9"/>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7A"/>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1" name="Decorative Accent"/>
          <p:cNvSpPr/>
          <p:nvPr/>
        </p:nvSpPr>
        <p:spPr>
          <a:xfrm>
            <a:off x="66160" y="683380"/>
            <a:ext cx="7000000" cy="7000000"/>
          </a:xfrm>
          <a:prstGeom prst="ellipse">
            <a:avLst/>
          </a:prstGeom>
          <a:noFill/>
          <a:ln w="12700">
            <a:solidFill>
              <a:srgbClr val="D4A03A">
                <a:alpha val="22000"/>
              </a:srgbClr>
            </a:solidFill>
          </a:ln>
        </p:spPr>
        <p:txBody>
          <a:bodyPr/>
          <a:lstStyle/>
          <a:p>
            <a:endParaRPr lang="en-US"/>
          </a:p>
        </p:txBody>
      </p:sp>
      <p:sp>
        <p:nvSpPr>
          <p:cNvPr id="2" name="Text 0"/>
          <p:cNvSpPr txBox="1"/>
          <p:nvPr/>
        </p:nvSpPr>
        <p:spPr>
          <a:xfrm>
            <a:off x="548640" y="548640"/>
            <a:ext cx="7315200" cy="274320"/>
          </a:xfrm>
          <a:prstGeom prst="rect">
            <a:avLst/>
          </a:prstGeom>
          <a:noFill/>
          <a:ln/>
        </p:spPr>
        <p:txBody>
          <a:bodyPr wrap="square" lIns="0" tIns="0" rIns="0" bIns="0" rtlCol="0" anchor="t"/>
          <a:lstStyle/>
          <a:p>
            <a:pPr marL="0" indent="0">
              <a:buNone/>
            </a:pPr>
            <a:r>
              <a:rPr lang="en-US" sz="1200" b="1" kern="0" spc="100" dirty="0">
                <a:solidFill>
                  <a:srgbClr val="D4A03A"/>
                </a:solidFill>
                <a:latin typeface="Calibri" pitchFamily="34" charset="0"/>
                <a:ea typeface="Calibri" pitchFamily="34" charset="-122"/>
                <a:cs typeface="Calibri" pitchFamily="34" charset="-120"/>
              </a:rPr>
              <a:t>ADVANCED TECHNOLOGY PIONEERS 2026  ·  DCT ABU DHABI CHALLENGE</a:t>
            </a:r>
            <a:endParaRPr lang="en-US" sz="1200" dirty="0"/>
          </a:p>
        </p:txBody>
      </p:sp>
      <p:sp>
        <p:nvSpPr>
          <p:cNvPr id="3" name="Text 1"/>
          <p:cNvSpPr txBox="1"/>
          <p:nvPr/>
        </p:nvSpPr>
        <p:spPr>
          <a:xfrm>
            <a:off x="548640" y="960120"/>
            <a:ext cx="6400800" cy="1005840"/>
          </a:xfrm>
          <a:prstGeom prst="rect">
            <a:avLst/>
          </a:prstGeom>
          <a:noFill/>
          <a:ln/>
        </p:spPr>
        <p:txBody>
          <a:bodyPr wrap="square" lIns="0" tIns="0" rIns="0" bIns="0" rtlCol="0" anchor="t"/>
          <a:lstStyle/>
          <a:p>
            <a:pPr marL="0" indent="0">
              <a:buNone/>
            </a:pPr>
            <a:r>
              <a:rPr lang="en-US" sz="6000" b="1" dirty="0">
                <a:solidFill>
                  <a:srgbClr val="FFFFFF"/>
                </a:solidFill>
                <a:latin typeface="Cambria" pitchFamily="34" charset="0"/>
                <a:ea typeface="Cambria" pitchFamily="34" charset="-122"/>
                <a:cs typeface="Cambria" pitchFamily="34" charset="-120"/>
              </a:rPr>
              <a:t>Air2Stay</a:t>
            </a:r>
            <a:endParaRPr lang="en-US" sz="6000" dirty="0"/>
          </a:p>
        </p:txBody>
      </p:sp>
      <p:sp>
        <p:nvSpPr>
          <p:cNvPr id="4" name="Text 2"/>
          <p:cNvSpPr txBox="1"/>
          <p:nvPr/>
        </p:nvSpPr>
        <p:spPr>
          <a:xfrm>
            <a:off x="548640" y="2057400"/>
            <a:ext cx="6035040" cy="914400"/>
          </a:xfrm>
          <a:prstGeom prst="rect">
            <a:avLst/>
          </a:prstGeom>
          <a:noFill/>
          <a:ln/>
        </p:spPr>
        <p:txBody>
          <a:bodyPr wrap="square" lIns="0" tIns="0" rIns="0" bIns="0" rtlCol="0" anchor="t"/>
          <a:lstStyle/>
          <a:p>
            <a:pPr marL="0" indent="0">
              <a:buNone/>
            </a:pPr>
            <a:r>
              <a:rPr lang="en-US" sz="1800" dirty="0">
                <a:solidFill>
                  <a:srgbClr val="D7E6EA"/>
                </a:solidFill>
                <a:latin typeface="Calibri" pitchFamily="34" charset="0"/>
                <a:ea typeface="Calibri" pitchFamily="34" charset="-122"/>
                <a:cs typeface="Calibri" pitchFamily="34" charset="-120"/>
              </a:rPr>
              <a:t>A what-if simulator that estimates how flight changes into Abu Dhabi change hotel check-ins and guest nights</a:t>
            </a:r>
            <a:endParaRPr lang="en-US" sz="1800" dirty="0"/>
          </a:p>
        </p:txBody>
      </p:sp>
      <p:sp>
        <p:nvSpPr>
          <p:cNvPr id="5" name="headline"/>
          <p:cNvSpPr/>
          <p:nvPr/>
        </p:nvSpPr>
        <p:spPr>
          <a:xfrm>
            <a:off x="548640" y="3246120"/>
            <a:ext cx="6035040" cy="1874520"/>
          </a:xfrm>
          <a:prstGeom prst="roundRect">
            <a:avLst>
              <a:gd name="adj" fmla="val 3902"/>
            </a:avLst>
          </a:prstGeom>
          <a:solidFill>
            <a:srgbClr val="15495B"/>
          </a:solidFill>
          <a:ln w="12700">
            <a:solidFill>
              <a:srgbClr val="15495B"/>
            </a:solidFill>
            <a:prstDash val="solid"/>
          </a:ln>
        </p:spPr>
        <p:txBody>
          <a:bodyPr/>
          <a:lstStyle/>
          <a:p>
            <a:endParaRPr lang="en-AE"/>
          </a:p>
        </p:txBody>
      </p:sp>
      <p:sp>
        <p:nvSpPr>
          <p:cNvPr id="6" name="Text 4"/>
          <p:cNvSpPr txBox="1"/>
          <p:nvPr/>
        </p:nvSpPr>
        <p:spPr>
          <a:xfrm>
            <a:off x="777240" y="3401568"/>
            <a:ext cx="5669280" cy="274320"/>
          </a:xfrm>
          <a:prstGeom prst="rect">
            <a:avLst/>
          </a:prstGeom>
          <a:noFill/>
          <a:ln/>
        </p:spPr>
        <p:txBody>
          <a:bodyPr wrap="square" lIns="0" tIns="0" rIns="0" bIns="0" rtlCol="0" anchor="t"/>
          <a:lstStyle/>
          <a:p>
            <a:pPr marL="0" indent="0">
              <a:buNone/>
            </a:pPr>
            <a:r>
              <a:rPr lang="en-US" sz="1100" b="1" kern="0" spc="100" dirty="0">
                <a:solidFill>
                  <a:srgbClr val="D4A03A"/>
                </a:solidFill>
                <a:latin typeface="Calibri" pitchFamily="34" charset="0"/>
                <a:ea typeface="Calibri" pitchFamily="34" charset="-122"/>
                <a:cs typeface="Calibri" pitchFamily="34" charset="-120"/>
              </a:rPr>
              <a:t>DEFAULT DEMO: +3 WEEKLY INDIA FLIGHTS IN DECEMBER</a:t>
            </a:r>
            <a:endParaRPr lang="en-US" sz="1100" dirty="0"/>
          </a:p>
        </p:txBody>
      </p:sp>
      <p:sp>
        <p:nvSpPr>
          <p:cNvPr id="7" name="Text 5"/>
          <p:cNvSpPr txBox="1"/>
          <p:nvPr/>
        </p:nvSpPr>
        <p:spPr>
          <a:xfrm>
            <a:off x="777240" y="3703320"/>
            <a:ext cx="2377440" cy="77724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+731</a:t>
            </a:r>
            <a:endParaRPr lang="en-US" sz="4400" dirty="0"/>
          </a:p>
        </p:txBody>
      </p:sp>
      <p:sp>
        <p:nvSpPr>
          <p:cNvPr id="8" name="Text 6"/>
          <p:cNvSpPr txBox="1"/>
          <p:nvPr/>
        </p:nvSpPr>
        <p:spPr>
          <a:xfrm>
            <a:off x="777240" y="4480560"/>
            <a:ext cx="2560320" cy="274320"/>
          </a:xfrm>
          <a:prstGeom prst="rect">
            <a:avLst/>
          </a:prstGeom>
          <a:noFill/>
          <a:ln/>
        </p:spPr>
        <p:txBody>
          <a:bodyPr wrap="square" lIns="0" tIns="0" rIns="0" bIns="0" rtlCol="0" anchor="t"/>
          <a:lstStyle/>
          <a:p>
            <a:pPr marL="0" indent="0">
              <a:buNone/>
            </a:pPr>
            <a:r>
              <a:rPr lang="en-US" sz="1200" dirty="0">
                <a:solidFill>
                  <a:srgbClr val="D7E6EA"/>
                </a:solidFill>
                <a:latin typeface="Calibri" pitchFamily="34" charset="0"/>
                <a:ea typeface="Calibri" pitchFamily="34" charset="-122"/>
                <a:cs typeface="Calibri" pitchFamily="34" charset="-120"/>
              </a:rPr>
              <a:t>hotel check-ins / month</a:t>
            </a:r>
            <a:endParaRPr lang="en-US" sz="1200" dirty="0"/>
          </a:p>
        </p:txBody>
      </p:sp>
      <p:sp>
        <p:nvSpPr>
          <p:cNvPr id="9" name="Text 7"/>
          <p:cNvSpPr txBox="1"/>
          <p:nvPr/>
        </p:nvSpPr>
        <p:spPr>
          <a:xfrm>
            <a:off x="3383280" y="3703320"/>
            <a:ext cx="2926080" cy="77724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+2,706</a:t>
            </a:r>
            <a:endParaRPr lang="en-US" sz="4400" dirty="0"/>
          </a:p>
        </p:txBody>
      </p:sp>
      <p:sp>
        <p:nvSpPr>
          <p:cNvPr id="10" name="Text 8"/>
          <p:cNvSpPr txBox="1"/>
          <p:nvPr/>
        </p:nvSpPr>
        <p:spPr>
          <a:xfrm>
            <a:off x="3383280" y="4480560"/>
            <a:ext cx="2926080" cy="274320"/>
          </a:xfrm>
          <a:prstGeom prst="rect">
            <a:avLst/>
          </a:prstGeom>
          <a:noFill/>
          <a:ln/>
        </p:spPr>
        <p:txBody>
          <a:bodyPr wrap="square" lIns="0" tIns="0" rIns="0" bIns="0" rtlCol="0" anchor="t"/>
          <a:lstStyle/>
          <a:p>
            <a:pPr marL="0" indent="0">
              <a:buNone/>
            </a:pPr>
            <a:r>
              <a:rPr lang="en-US" sz="1200" dirty="0">
                <a:solidFill>
                  <a:srgbClr val="D7E6EA"/>
                </a:solidFill>
                <a:latin typeface="Calibri" pitchFamily="34" charset="0"/>
                <a:ea typeface="Calibri" pitchFamily="34" charset="-122"/>
                <a:cs typeface="Calibri" pitchFamily="34" charset="-120"/>
              </a:rPr>
              <a:t>guest nights / month</a:t>
            </a:r>
            <a:endParaRPr lang="en-US" sz="1200" dirty="0"/>
          </a:p>
        </p:txBody>
      </p:sp>
      <p:sp>
        <p:nvSpPr>
          <p:cNvPr id="11" name="Text 9"/>
          <p:cNvSpPr txBox="1"/>
          <p:nvPr/>
        </p:nvSpPr>
        <p:spPr>
          <a:xfrm>
            <a:off x="777240" y="4773168"/>
            <a:ext cx="5669280" cy="274320"/>
          </a:xfrm>
          <a:prstGeom prst="rect">
            <a:avLst/>
          </a:prstGeom>
          <a:noFill/>
          <a:ln/>
        </p:spPr>
        <p:txBody>
          <a:bodyPr wrap="square" lIns="0" tIns="0" rIns="0" bIns="0" rtlCol="0" anchor="t"/>
          <a:lstStyle/>
          <a:p>
            <a:pPr marL="0" indent="0">
              <a:buNone/>
            </a:pPr>
            <a:r>
              <a:rPr lang="en-US" sz="1100" i="1" dirty="0">
                <a:solidFill>
                  <a:srgbClr val="A9C3C9"/>
                </a:solidFill>
                <a:latin typeface="Calibri" pitchFamily="34" charset="0"/>
                <a:ea typeface="Calibri" pitchFamily="34" charset="-122"/>
                <a:cs typeface="Calibri" pitchFamily="34" charset="-120"/>
              </a:rPr>
              <a:t>vs. the historical baseline; estimates, not guarantees</a:t>
            </a:r>
            <a:endParaRPr lang="en-US" sz="1100" dirty="0"/>
          </a:p>
        </p:txBody>
      </p:sp>
      <p:sp>
        <p:nvSpPr>
          <p:cNvPr id="12" name="Text 10"/>
          <p:cNvSpPr txBox="1"/>
          <p:nvPr/>
        </p:nvSpPr>
        <p:spPr>
          <a:xfrm>
            <a:off x="7223760" y="548640"/>
            <a:ext cx="4480560" cy="274320"/>
          </a:xfrm>
          <a:prstGeom prst="rect">
            <a:avLst/>
          </a:prstGeom>
          <a:noFill/>
          <a:ln/>
        </p:spPr>
        <p:txBody>
          <a:bodyPr wrap="square" lIns="0" tIns="0" rIns="0" bIns="0" rtlCol="0" anchor="t"/>
          <a:lstStyle/>
          <a:p>
            <a:pPr marL="0" indent="0">
              <a:buNone/>
            </a:pPr>
            <a:r>
              <a:rPr lang="en-US" sz="1200" b="1" kern="0" spc="100" dirty="0">
                <a:solidFill>
                  <a:srgbClr val="D4A03A"/>
                </a:solidFill>
                <a:latin typeface="Calibri" pitchFamily="34" charset="0"/>
                <a:ea typeface="Calibri" pitchFamily="34" charset="-122"/>
                <a:cs typeface="Calibri" pitchFamily="34" charset="-120"/>
              </a:rPr>
              <a:t>WHAT THE PACKAGE CONTAINS</a:t>
            </a:r>
            <a:endParaRPr lang="en-US" sz="1200" dirty="0"/>
          </a:p>
        </p:txBody>
      </p:sp>
      <p:sp>
        <p:nvSpPr>
          <p:cNvPr id="13" name="pkg0"/>
          <p:cNvSpPr/>
          <p:nvPr/>
        </p:nvSpPr>
        <p:spPr>
          <a:xfrm>
            <a:off x="7223760" y="960120"/>
            <a:ext cx="4480560" cy="731520"/>
          </a:xfrm>
          <a:prstGeom prst="roundRect">
            <a:avLst>
              <a:gd name="adj" fmla="val 10000"/>
            </a:avLst>
          </a:prstGeom>
          <a:solidFill>
            <a:srgbClr val="15495B"/>
          </a:solidFill>
          <a:ln w="12700">
            <a:solidFill>
              <a:srgbClr val="15495B"/>
            </a:solidFill>
            <a:prstDash val="solid"/>
          </a:ln>
        </p:spPr>
        <p:txBody>
          <a:bodyPr/>
          <a:lstStyle/>
          <a:p>
            <a:endParaRPr lang="en-AE"/>
          </a:p>
        </p:txBody>
      </p:sp>
      <p:sp>
        <p:nvSpPr>
          <p:cNvPr id="14" name="Text 12"/>
          <p:cNvSpPr txBox="1"/>
          <p:nvPr/>
        </p:nvSpPr>
        <p:spPr>
          <a:xfrm>
            <a:off x="7406640" y="1051560"/>
            <a:ext cx="4114800" cy="27432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Web prototype</a:t>
            </a:r>
            <a:endParaRPr lang="en-US" sz="1400" dirty="0"/>
          </a:p>
        </p:txBody>
      </p:sp>
      <p:sp>
        <p:nvSpPr>
          <p:cNvPr id="15" name="Text 13"/>
          <p:cNvSpPr txBox="1"/>
          <p:nvPr/>
        </p:nvSpPr>
        <p:spPr>
          <a:xfrm>
            <a:off x="7406640" y="1344168"/>
            <a:ext cx="4114800" cy="274320"/>
          </a:xfrm>
          <a:prstGeom prst="rect">
            <a:avLst/>
          </a:prstGeom>
          <a:noFill/>
          <a:ln/>
        </p:spPr>
        <p:txBody>
          <a:bodyPr wrap="square" lIns="0" tIns="0" rIns="0" bIns="0" rtlCol="0" anchor="t"/>
          <a:lstStyle/>
          <a:p>
            <a:pPr marL="0" indent="0">
              <a:buNone/>
            </a:pPr>
            <a:r>
              <a:rPr lang="en-US" sz="1150" dirty="0">
                <a:solidFill>
                  <a:srgbClr val="C9DCE0"/>
                </a:solidFill>
                <a:latin typeface="Calibri" pitchFamily="34" charset="0"/>
                <a:ea typeface="Calibri" pitchFamily="34" charset="-122"/>
                <a:cs typeface="Calibri" pitchFamily="34" charset="-120"/>
              </a:rPr>
              <a:t>4 pages · 33 departure countries · one standalone HTML file</a:t>
            </a:r>
            <a:endParaRPr lang="en-US" sz="1150" dirty="0"/>
          </a:p>
        </p:txBody>
      </p:sp>
      <p:sp>
        <p:nvSpPr>
          <p:cNvPr id="16" name="pkg1"/>
          <p:cNvSpPr/>
          <p:nvPr/>
        </p:nvSpPr>
        <p:spPr>
          <a:xfrm>
            <a:off x="7223760" y="1828800"/>
            <a:ext cx="4480560" cy="731520"/>
          </a:xfrm>
          <a:prstGeom prst="roundRect">
            <a:avLst>
              <a:gd name="adj" fmla="val 10000"/>
            </a:avLst>
          </a:prstGeom>
          <a:solidFill>
            <a:srgbClr val="15495B"/>
          </a:solidFill>
          <a:ln w="12700">
            <a:solidFill>
              <a:srgbClr val="15495B"/>
            </a:solidFill>
            <a:prstDash val="solid"/>
          </a:ln>
        </p:spPr>
        <p:txBody>
          <a:bodyPr/>
          <a:lstStyle/>
          <a:p>
            <a:endParaRPr lang="en-AE"/>
          </a:p>
        </p:txBody>
      </p:sp>
      <p:sp>
        <p:nvSpPr>
          <p:cNvPr id="17" name="Text 15"/>
          <p:cNvSpPr txBox="1"/>
          <p:nvPr/>
        </p:nvSpPr>
        <p:spPr>
          <a:xfrm>
            <a:off x="7406640" y="1920240"/>
            <a:ext cx="4114800" cy="27432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Calculation audit workbook</a:t>
            </a:r>
            <a:endParaRPr lang="en-US" sz="1400" dirty="0"/>
          </a:p>
        </p:txBody>
      </p:sp>
      <p:sp>
        <p:nvSpPr>
          <p:cNvPr id="18" name="Text 16"/>
          <p:cNvSpPr txBox="1"/>
          <p:nvPr/>
        </p:nvSpPr>
        <p:spPr>
          <a:xfrm>
            <a:off x="7406640" y="2212848"/>
            <a:ext cx="4114800" cy="274320"/>
          </a:xfrm>
          <a:prstGeom prst="rect">
            <a:avLst/>
          </a:prstGeom>
          <a:noFill/>
          <a:ln/>
        </p:spPr>
        <p:txBody>
          <a:bodyPr wrap="square" lIns="0" tIns="0" rIns="0" bIns="0" rtlCol="0" anchor="t"/>
          <a:lstStyle/>
          <a:p>
            <a:pPr marL="0" indent="0">
              <a:buNone/>
            </a:pPr>
            <a:r>
              <a:rPr lang="en-US" sz="1150" dirty="0">
                <a:solidFill>
                  <a:srgbClr val="C9DCE0"/>
                </a:solidFill>
                <a:latin typeface="Calibri" pitchFamily="34" charset="0"/>
                <a:ea typeface="Calibri" pitchFamily="34" charset="-122"/>
                <a:cs typeface="Calibri" pitchFamily="34" charset="-120"/>
              </a:rPr>
              <a:t>11 sheets · 396 route baselines · 17,820 bridge rows</a:t>
            </a:r>
            <a:endParaRPr lang="en-US" sz="1150" dirty="0"/>
          </a:p>
        </p:txBody>
      </p:sp>
      <p:sp>
        <p:nvSpPr>
          <p:cNvPr id="19" name="pkg2"/>
          <p:cNvSpPr/>
          <p:nvPr/>
        </p:nvSpPr>
        <p:spPr>
          <a:xfrm>
            <a:off x="7223760" y="2697480"/>
            <a:ext cx="4480560" cy="731520"/>
          </a:xfrm>
          <a:prstGeom prst="roundRect">
            <a:avLst>
              <a:gd name="adj" fmla="val 10000"/>
            </a:avLst>
          </a:prstGeom>
          <a:solidFill>
            <a:srgbClr val="15495B"/>
          </a:solidFill>
          <a:ln w="12700">
            <a:solidFill>
              <a:srgbClr val="15495B"/>
            </a:solidFill>
            <a:prstDash val="solid"/>
          </a:ln>
        </p:spPr>
        <p:txBody>
          <a:bodyPr/>
          <a:lstStyle/>
          <a:p>
            <a:endParaRPr lang="en-AE"/>
          </a:p>
        </p:txBody>
      </p:sp>
      <p:sp>
        <p:nvSpPr>
          <p:cNvPr id="20" name="Text 18"/>
          <p:cNvSpPr txBox="1"/>
          <p:nvPr/>
        </p:nvSpPr>
        <p:spPr>
          <a:xfrm>
            <a:off x="7406640" y="2788920"/>
            <a:ext cx="4114800" cy="27432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Technical guide &amp; user manual</a:t>
            </a:r>
            <a:endParaRPr lang="en-US" sz="1400" dirty="0"/>
          </a:p>
        </p:txBody>
      </p:sp>
      <p:sp>
        <p:nvSpPr>
          <p:cNvPr id="21" name="Text 19"/>
          <p:cNvSpPr txBox="1"/>
          <p:nvPr/>
        </p:nvSpPr>
        <p:spPr>
          <a:xfrm>
            <a:off x="7406640" y="3081528"/>
            <a:ext cx="4114800" cy="274320"/>
          </a:xfrm>
          <a:prstGeom prst="rect">
            <a:avLst/>
          </a:prstGeom>
          <a:noFill/>
          <a:ln/>
        </p:spPr>
        <p:txBody>
          <a:bodyPr wrap="square" lIns="0" tIns="0" rIns="0" bIns="0" rtlCol="0" anchor="t"/>
          <a:lstStyle/>
          <a:p>
            <a:pPr marL="0" indent="0">
              <a:buNone/>
            </a:pPr>
            <a:r>
              <a:rPr lang="en-US" sz="1150" dirty="0">
                <a:solidFill>
                  <a:srgbClr val="C9DCE0"/>
                </a:solidFill>
                <a:latin typeface="Calibri" pitchFamily="34" charset="0"/>
                <a:ea typeface="Calibri" pitchFamily="34" charset="-122"/>
                <a:cs typeface="Calibri" pitchFamily="34" charset="-120"/>
              </a:rPr>
              <a:t>15 sections: method, demo script, glossary</a:t>
            </a:r>
            <a:endParaRPr lang="en-US" sz="1150" dirty="0"/>
          </a:p>
        </p:txBody>
      </p:sp>
      <p:sp>
        <p:nvSpPr>
          <p:cNvPr id="22" name="pkg3"/>
          <p:cNvSpPr/>
          <p:nvPr/>
        </p:nvSpPr>
        <p:spPr>
          <a:xfrm>
            <a:off x="7223760" y="3566160"/>
            <a:ext cx="4480560" cy="731520"/>
          </a:xfrm>
          <a:prstGeom prst="roundRect">
            <a:avLst>
              <a:gd name="adj" fmla="val 10000"/>
            </a:avLst>
          </a:prstGeom>
          <a:solidFill>
            <a:srgbClr val="15495B"/>
          </a:solidFill>
          <a:ln w="12700">
            <a:solidFill>
              <a:srgbClr val="15495B"/>
            </a:solidFill>
            <a:prstDash val="solid"/>
          </a:ln>
        </p:spPr>
        <p:txBody>
          <a:bodyPr/>
          <a:lstStyle/>
          <a:p>
            <a:endParaRPr lang="en-AE"/>
          </a:p>
        </p:txBody>
      </p:sp>
      <p:sp>
        <p:nvSpPr>
          <p:cNvPr id="23" name="Text 21"/>
          <p:cNvSpPr txBox="1"/>
          <p:nvPr/>
        </p:nvSpPr>
        <p:spPr>
          <a:xfrm>
            <a:off x="7406640" y="3657600"/>
            <a:ext cx="4114800" cy="27432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Complete source code</a:t>
            </a:r>
            <a:endParaRPr lang="en-US" sz="1400" dirty="0"/>
          </a:p>
        </p:txBody>
      </p:sp>
      <p:sp>
        <p:nvSpPr>
          <p:cNvPr id="24" name="Text 22"/>
          <p:cNvSpPr txBox="1"/>
          <p:nvPr/>
        </p:nvSpPr>
        <p:spPr>
          <a:xfrm>
            <a:off x="7406640" y="3950208"/>
            <a:ext cx="4114800" cy="274320"/>
          </a:xfrm>
          <a:prstGeom prst="rect">
            <a:avLst/>
          </a:prstGeom>
          <a:noFill/>
          <a:ln/>
        </p:spPr>
        <p:txBody>
          <a:bodyPr wrap="square" lIns="0" tIns="0" rIns="0" bIns="0" rtlCol="0" anchor="t"/>
          <a:lstStyle/>
          <a:p>
            <a:pPr marL="0" indent="0">
              <a:buNone/>
            </a:pPr>
            <a:r>
              <a:rPr lang="en-US" sz="1150" dirty="0">
                <a:solidFill>
                  <a:srgbClr val="C9DCE0"/>
                </a:solidFill>
                <a:latin typeface="Calibri" pitchFamily="34" charset="0"/>
                <a:ea typeface="Calibri" pitchFamily="34" charset="-122"/>
                <a:cs typeface="Calibri" pitchFamily="34" charset="-120"/>
              </a:rPr>
              <a:t>12 files: Python, JavaScript, HTML/CSS, PowerShell</a:t>
            </a:r>
            <a:endParaRPr lang="en-US" sz="1150" dirty="0"/>
          </a:p>
        </p:txBody>
      </p:sp>
      <p:sp>
        <p:nvSpPr>
          <p:cNvPr id="29" name="Challenge Statement"/>
          <p:cNvSpPr txBox="1"/>
          <p:nvPr/>
        </p:nvSpPr>
        <p:spPr>
          <a:xfrm>
            <a:off x="548640" y="5257800"/>
            <a:ext cx="11094720" cy="502920"/>
          </a:xfrm>
          <a:prstGeom prst="rect">
            <a:avLst/>
          </a:prstGeom>
          <a:noFill/>
          <a:ln/>
        </p:spPr>
        <p:txBody>
          <a:bodyPr wrap="square" lIns="0" tIns="0" rIns="0" bIns="0" rtlCol="0" anchor="t"/>
          <a:lstStyle/>
          <a:p>
            <a:pPr marL="0" indent="0">
              <a:buNone/>
            </a:pPr>
            <a:r>
              <a:rPr lang="en-US" sz="1200" i="1" dirty="0">
                <a:solidFill>
                  <a:srgbClr val="D7E6EA"/>
                </a:solidFill>
                <a:latin typeface="Calibri" pitchFamily="34" charset="0"/>
                <a:ea typeface="Calibri" pitchFamily="34" charset="-122"/>
                <a:cs typeface="Calibri" pitchFamily="34" charset="-120"/>
              </a:rPr>
              <a:t>DCT Abu Dhabi challenge statement: “How might we build a tool that predicts how flight changes affect hotel visits in Abu Dhabi?”</a:t>
            </a:r>
            <a:endParaRPr lang="en-US" sz="1200" i="1" dirty="0"/>
          </a:p>
        </p:txBody>
      </p:sp>
      <p:sp>
        <p:nvSpPr>
          <p:cNvPr id="30" name="AI Tool Declaration"/>
          <p:cNvSpPr txBox="1"/>
          <p:nvPr/>
        </p:nvSpPr>
        <p:spPr>
          <a:xfrm>
            <a:off x="548640" y="5852160"/>
            <a:ext cx="11094720" cy="365760"/>
          </a:xfrm>
          <a:prstGeom prst="rect">
            <a:avLst/>
          </a:prstGeom>
          <a:noFill/>
          <a:ln/>
        </p:spPr>
        <p:txBody>
          <a:bodyPr wrap="square" lIns="0" tIns="0" rIns="0" bIns="0" rtlCol="0" anchor="t"/>
          <a:lstStyle/>
          <a:p>
            <a:pPr marL="0" indent="0">
              <a:buNone/>
            </a:pPr>
            <a:r>
              <a:rPr lang="en-US" sz="900" dirty="0">
                <a:solidFill>
                  <a:srgbClr val="A9C3C9"/>
                </a:solidFill>
                <a:latin typeface="Calibri" pitchFamily="34" charset="0"/>
                <a:ea typeface="Calibri" pitchFamily="34" charset="-122"/>
                <a:cs typeface="Calibri" pitchFamily="34" charset="-120"/>
              </a:rPr>
              <a:t>AI-tool declaration: prototype build used AI-assisted coding (OpenAI Codex) and the cover concept used OpenAI image generation, both under team direction; the team can explain every method, decision and result in its own words.</a:t>
            </a:r>
            <a:endParaRPr lang="en-US" sz="900" dirty="0"/>
          </a:p>
        </p:txBody>
      </p:sp>
      <p:sp>
        <p:nvSpPr>
          <p:cNvPr id="32"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A9C3C9"/>
                </a:solidFill>
              </a:defRPr>
            </a:lvl1pPr>
          </a:lstStyle>
          <a:p>
            <a:pPr algn="r"/>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11247120" cy="685800"/>
          </a:xfrm>
          <a:prstGeom prst="rect">
            <a:avLst/>
          </a:prstGeom>
          <a:noFill/>
          <a:ln/>
        </p:spPr>
        <p:txBody>
          <a:bodyPr wrap="square" lIns="0" tIns="0" rIns="0" bIns="0" rtlCol="0" anchor="ctr"/>
          <a:lstStyle/>
          <a:p>
            <a:pPr marL="0" indent="0" algn="l">
              <a:buNone/>
            </a:pPr>
            <a:r>
              <a:rPr lang="en-US" sz="2800" b="1" dirty="0">
                <a:solidFill>
                  <a:srgbClr val="0E3B4A"/>
                </a:solidFill>
                <a:latin typeface="Cambria" pitchFamily="34" charset="0"/>
                <a:ea typeface="Cambria" pitchFamily="34" charset="-122"/>
                <a:cs typeface="Cambria" pitchFamily="34" charset="-120"/>
              </a:rPr>
              <a:t>Team Air2Stay</a:t>
            </a:r>
            <a:endParaRPr lang="en-US" sz="2800" dirty="0"/>
          </a:p>
        </p:txBody>
      </p:sp>
      <p:sp>
        <p:nvSpPr>
          <p:cNvPr id="3" name="Subtitle"/>
          <p:cNvSpPr txBox="1"/>
          <p:nvPr/>
        </p:nvSpPr>
        <p:spPr>
          <a:xfrm>
            <a:off x="457200" y="1005840"/>
            <a:ext cx="11247120" cy="502920"/>
          </a:xfrm>
          <a:prstGeom prst="rect">
            <a:avLst/>
          </a:prstGeom>
          <a:noFill/>
          <a:ln/>
        </p:spPr>
        <p:txBody>
          <a:bodyPr wrap="square" lIns="0" tIns="0" rIns="0" bIns="0" rtlCol="0" anchor="t"/>
          <a:lstStyle/>
          <a:p>
            <a:pPr marL="0" indent="0">
              <a:buNone/>
            </a:pPr>
            <a:r>
              <a:rPr lang="en-US" sz="1400" dirty="0">
                <a:solidFill>
                  <a:srgbClr val="5B6B7A"/>
                </a:solidFill>
                <a:latin typeface="Calibri" pitchFamily="34" charset="0"/>
                <a:ea typeface="Calibri" pitchFamily="34" charset="-122"/>
                <a:cs typeface="Calibri" pitchFamily="34" charset="-120"/>
              </a:rPr>
              <a:t>Advanced Technology Pioneers 2026 – DCT Abu Dhabi sponsor track, flight-to-hotel demand simulator</a:t>
            </a:r>
            <a:endParaRPr lang="en-US" sz="1400" dirty="0"/>
          </a:p>
        </p:txBody>
      </p:sp>
      <p:sp>
        <p:nvSpPr>
          <p:cNvPr id="100" name="team0"/>
          <p:cNvSpPr/>
          <p:nvPr/>
        </p:nvSpPr>
        <p:spPr>
          <a:xfrm>
            <a:off x="457200" y="1783080"/>
            <a:ext cx="2682240" cy="2057400"/>
          </a:xfrm>
          <a:prstGeom prst="roundRect">
            <a:avLst>
              <a:gd name="adj" fmla="val 6000"/>
            </a:avLst>
          </a:prstGeom>
          <a:solidFill>
            <a:srgbClr val="E3F1F2"/>
          </a:solidFill>
          <a:ln w="12700">
            <a:solidFill>
              <a:srgbClr val="E3F1F2"/>
            </a:solidFill>
            <a:prstDash val="solid"/>
          </a:ln>
        </p:spPr>
        <p:txBody>
          <a:bodyPr/>
          <a:lstStyle/>
          <a:p>
            <a:endParaRPr lang="en-AE"/>
          </a:p>
        </p:txBody>
      </p:sp>
      <p:sp>
        <p:nvSpPr>
          <p:cNvPr id="101" name="team0label"/>
          <p:cNvSpPr txBox="1"/>
          <p:nvPr/>
        </p:nvSpPr>
        <p:spPr>
          <a:xfrm>
            <a:off x="640080" y="2011680"/>
            <a:ext cx="2316480" cy="274320"/>
          </a:xfrm>
          <a:prstGeom prst="rect">
            <a:avLst/>
          </a:prstGeom>
          <a:noFill/>
          <a:ln/>
        </p:spPr>
        <p:txBody>
          <a:bodyPr wrap="square" lIns="0" tIns="0" rIns="0" bIns="0" rtlCol="0" anchor="t"/>
          <a:lstStyle/>
          <a:p>
            <a:pPr marL="0" indent="0">
              <a:buNone/>
            </a:pPr>
            <a:r>
              <a:rPr lang="en-US" sz="1100" b="1" kern="0" spc="100" dirty="0">
                <a:solidFill>
                  <a:srgbClr val="0E7C86"/>
                </a:solidFill>
                <a:latin typeface="Calibri" pitchFamily="34" charset="0"/>
                <a:ea typeface="Calibri" pitchFamily="34" charset="-122"/>
                <a:cs typeface="Calibri" pitchFamily="34" charset="-120"/>
              </a:rPr>
              <a:t>TEAM MEMBER</a:t>
            </a:r>
            <a:endParaRPr lang="en-US" sz="1100" dirty="0"/>
          </a:p>
        </p:txBody>
      </p:sp>
      <p:sp>
        <p:nvSpPr>
          <p:cNvPr id="102" name="team0name"/>
          <p:cNvSpPr txBox="1"/>
          <p:nvPr/>
        </p:nvSpPr>
        <p:spPr>
          <a:xfrm>
            <a:off x="640080" y="2331720"/>
            <a:ext cx="2316480" cy="1143000"/>
          </a:xfrm>
          <a:prstGeom prst="rect">
            <a:avLst/>
          </a:prstGeom>
          <a:noFill/>
          <a:ln/>
        </p:spPr>
        <p:txBody>
          <a:bodyPr wrap="square" lIns="0" tIns="0" rIns="0" bIns="0" rtlCol="0" anchor="t"/>
          <a:lstStyle/>
          <a:p>
            <a:pPr marL="0" indent="0">
              <a:buNone/>
            </a:pPr>
            <a:r>
              <a:rPr lang="en-US" sz="1700" b="1" dirty="0">
                <a:solidFill>
                  <a:srgbClr val="0E3B4A"/>
                </a:solidFill>
                <a:latin typeface="Cambria" pitchFamily="34" charset="0"/>
                <a:ea typeface="Cambria" pitchFamily="34" charset="-122"/>
                <a:cs typeface="Cambria" pitchFamily="34" charset="-120"/>
              </a:rPr>
              <a:t>Mohammed Affan Parkar</a:t>
            </a:r>
            <a:endParaRPr lang="en-US" sz="1700" dirty="0"/>
          </a:p>
        </p:txBody>
      </p:sp>
      <p:sp>
        <p:nvSpPr>
          <p:cNvPr id="110" name="team1"/>
          <p:cNvSpPr/>
          <p:nvPr/>
        </p:nvSpPr>
        <p:spPr>
          <a:xfrm>
            <a:off x="3322320" y="1783080"/>
            <a:ext cx="2682240" cy="2057400"/>
          </a:xfrm>
          <a:prstGeom prst="roundRect">
            <a:avLst>
              <a:gd name="adj" fmla="val 6000"/>
            </a:avLst>
          </a:prstGeom>
          <a:solidFill>
            <a:srgbClr val="E3F1F2"/>
          </a:solidFill>
          <a:ln w="12700">
            <a:solidFill>
              <a:srgbClr val="E3F1F2"/>
            </a:solidFill>
            <a:prstDash val="solid"/>
          </a:ln>
        </p:spPr>
        <p:txBody>
          <a:bodyPr/>
          <a:lstStyle/>
          <a:p>
            <a:endParaRPr lang="en-AE"/>
          </a:p>
        </p:txBody>
      </p:sp>
      <p:sp>
        <p:nvSpPr>
          <p:cNvPr id="111" name="team1label"/>
          <p:cNvSpPr txBox="1"/>
          <p:nvPr/>
        </p:nvSpPr>
        <p:spPr>
          <a:xfrm>
            <a:off x="3505200" y="2011680"/>
            <a:ext cx="2316480" cy="274320"/>
          </a:xfrm>
          <a:prstGeom prst="rect">
            <a:avLst/>
          </a:prstGeom>
          <a:noFill/>
          <a:ln/>
        </p:spPr>
        <p:txBody>
          <a:bodyPr wrap="square" lIns="0" tIns="0" rIns="0" bIns="0" rtlCol="0" anchor="t"/>
          <a:lstStyle/>
          <a:p>
            <a:pPr marL="0" indent="0">
              <a:buNone/>
            </a:pPr>
            <a:r>
              <a:rPr lang="en-US" sz="1100" b="1" kern="0" spc="100" dirty="0">
                <a:solidFill>
                  <a:srgbClr val="0E7C86"/>
                </a:solidFill>
                <a:latin typeface="Calibri" pitchFamily="34" charset="0"/>
                <a:ea typeface="Calibri" pitchFamily="34" charset="-122"/>
                <a:cs typeface="Calibri" pitchFamily="34" charset="-120"/>
              </a:rPr>
              <a:t>TEAM MEMBER</a:t>
            </a:r>
            <a:endParaRPr lang="en-US" sz="1100" dirty="0"/>
          </a:p>
        </p:txBody>
      </p:sp>
      <p:sp>
        <p:nvSpPr>
          <p:cNvPr id="112" name="team1name"/>
          <p:cNvSpPr txBox="1"/>
          <p:nvPr/>
        </p:nvSpPr>
        <p:spPr>
          <a:xfrm>
            <a:off x="3505200" y="2331720"/>
            <a:ext cx="2316480" cy="1143000"/>
          </a:xfrm>
          <a:prstGeom prst="rect">
            <a:avLst/>
          </a:prstGeom>
          <a:noFill/>
          <a:ln/>
        </p:spPr>
        <p:txBody>
          <a:bodyPr wrap="square" lIns="0" tIns="0" rIns="0" bIns="0" rtlCol="0" anchor="t"/>
          <a:lstStyle/>
          <a:p>
            <a:pPr marL="0" indent="0">
              <a:buNone/>
            </a:pPr>
            <a:r>
              <a:rPr lang="en-US" sz="1700" b="1" dirty="0">
                <a:solidFill>
                  <a:srgbClr val="0E3B4A"/>
                </a:solidFill>
                <a:latin typeface="Cambria" pitchFamily="34" charset="0"/>
                <a:ea typeface="Cambria" pitchFamily="34" charset="-122"/>
                <a:cs typeface="Cambria" pitchFamily="34" charset="-120"/>
              </a:rPr>
              <a:t>Yasmeen Alzarooni</a:t>
            </a:r>
            <a:endParaRPr lang="en-US" sz="1700" dirty="0"/>
          </a:p>
        </p:txBody>
      </p:sp>
      <p:sp>
        <p:nvSpPr>
          <p:cNvPr id="120" name="team2"/>
          <p:cNvSpPr/>
          <p:nvPr/>
        </p:nvSpPr>
        <p:spPr>
          <a:xfrm>
            <a:off x="6187440" y="1783080"/>
            <a:ext cx="2682240" cy="2057400"/>
          </a:xfrm>
          <a:prstGeom prst="roundRect">
            <a:avLst>
              <a:gd name="adj" fmla="val 6000"/>
            </a:avLst>
          </a:prstGeom>
          <a:solidFill>
            <a:srgbClr val="E3F1F2"/>
          </a:solidFill>
          <a:ln w="12700">
            <a:solidFill>
              <a:srgbClr val="E3F1F2"/>
            </a:solidFill>
            <a:prstDash val="solid"/>
          </a:ln>
        </p:spPr>
        <p:txBody>
          <a:bodyPr/>
          <a:lstStyle/>
          <a:p>
            <a:endParaRPr lang="en-AE"/>
          </a:p>
        </p:txBody>
      </p:sp>
      <p:sp>
        <p:nvSpPr>
          <p:cNvPr id="121" name="team2label"/>
          <p:cNvSpPr txBox="1"/>
          <p:nvPr/>
        </p:nvSpPr>
        <p:spPr>
          <a:xfrm>
            <a:off x="6370320" y="2011680"/>
            <a:ext cx="2316480" cy="274320"/>
          </a:xfrm>
          <a:prstGeom prst="rect">
            <a:avLst/>
          </a:prstGeom>
          <a:noFill/>
          <a:ln/>
        </p:spPr>
        <p:txBody>
          <a:bodyPr wrap="square" lIns="0" tIns="0" rIns="0" bIns="0" rtlCol="0" anchor="t"/>
          <a:lstStyle/>
          <a:p>
            <a:pPr marL="0" indent="0">
              <a:buNone/>
            </a:pPr>
            <a:r>
              <a:rPr lang="en-US" sz="1100" b="1" kern="0" spc="100" dirty="0">
                <a:solidFill>
                  <a:srgbClr val="0E7C86"/>
                </a:solidFill>
                <a:latin typeface="Calibri" pitchFamily="34" charset="0"/>
                <a:ea typeface="Calibri" pitchFamily="34" charset="-122"/>
                <a:cs typeface="Calibri" pitchFamily="34" charset="-120"/>
              </a:rPr>
              <a:t>TEAM MEMBER</a:t>
            </a:r>
            <a:endParaRPr lang="en-US" sz="1100" dirty="0"/>
          </a:p>
        </p:txBody>
      </p:sp>
      <p:sp>
        <p:nvSpPr>
          <p:cNvPr id="122" name="team2name"/>
          <p:cNvSpPr txBox="1"/>
          <p:nvPr/>
        </p:nvSpPr>
        <p:spPr>
          <a:xfrm>
            <a:off x="6370320" y="2331720"/>
            <a:ext cx="2316480" cy="1143000"/>
          </a:xfrm>
          <a:prstGeom prst="rect">
            <a:avLst/>
          </a:prstGeom>
          <a:noFill/>
          <a:ln/>
        </p:spPr>
        <p:txBody>
          <a:bodyPr wrap="square" lIns="0" tIns="0" rIns="0" bIns="0" rtlCol="0" anchor="t"/>
          <a:lstStyle/>
          <a:p>
            <a:pPr marL="0" indent="0">
              <a:buNone/>
            </a:pPr>
            <a:r>
              <a:rPr lang="en-US" sz="1700" b="1" dirty="0">
                <a:solidFill>
                  <a:srgbClr val="0E3B4A"/>
                </a:solidFill>
                <a:latin typeface="Cambria" pitchFamily="34" charset="0"/>
                <a:ea typeface="Cambria" pitchFamily="34" charset="-122"/>
                <a:cs typeface="Cambria" pitchFamily="34" charset="-120"/>
              </a:rPr>
              <a:t>Hazil Fateen</a:t>
            </a:r>
            <a:endParaRPr lang="en-US" sz="1700" dirty="0"/>
          </a:p>
        </p:txBody>
      </p:sp>
      <p:sp>
        <p:nvSpPr>
          <p:cNvPr id="130" name="team3"/>
          <p:cNvSpPr/>
          <p:nvPr/>
        </p:nvSpPr>
        <p:spPr>
          <a:xfrm>
            <a:off x="9052560" y="1783080"/>
            <a:ext cx="2682240" cy="2057400"/>
          </a:xfrm>
          <a:prstGeom prst="roundRect">
            <a:avLst>
              <a:gd name="adj" fmla="val 6000"/>
            </a:avLst>
          </a:prstGeom>
          <a:solidFill>
            <a:srgbClr val="E3F1F2"/>
          </a:solidFill>
          <a:ln w="12700">
            <a:solidFill>
              <a:srgbClr val="E3F1F2"/>
            </a:solidFill>
            <a:prstDash val="solid"/>
          </a:ln>
        </p:spPr>
        <p:txBody>
          <a:bodyPr/>
          <a:lstStyle/>
          <a:p>
            <a:endParaRPr lang="en-AE"/>
          </a:p>
        </p:txBody>
      </p:sp>
      <p:sp>
        <p:nvSpPr>
          <p:cNvPr id="131" name="team3label"/>
          <p:cNvSpPr txBox="1"/>
          <p:nvPr/>
        </p:nvSpPr>
        <p:spPr>
          <a:xfrm>
            <a:off x="9235440" y="2011680"/>
            <a:ext cx="2316480" cy="274320"/>
          </a:xfrm>
          <a:prstGeom prst="rect">
            <a:avLst/>
          </a:prstGeom>
          <a:noFill/>
          <a:ln/>
        </p:spPr>
        <p:txBody>
          <a:bodyPr wrap="square" lIns="0" tIns="0" rIns="0" bIns="0" rtlCol="0" anchor="t"/>
          <a:lstStyle/>
          <a:p>
            <a:pPr marL="0" indent="0">
              <a:buNone/>
            </a:pPr>
            <a:r>
              <a:rPr lang="en-US" sz="1100" b="1" kern="0" spc="100" dirty="0">
                <a:solidFill>
                  <a:srgbClr val="0E7C86"/>
                </a:solidFill>
                <a:latin typeface="Calibri" pitchFamily="34" charset="0"/>
                <a:ea typeface="Calibri" pitchFamily="34" charset="-122"/>
                <a:cs typeface="Calibri" pitchFamily="34" charset="-120"/>
              </a:rPr>
              <a:t>TEAM MEMBER</a:t>
            </a:r>
            <a:endParaRPr lang="en-US" sz="1100" dirty="0"/>
          </a:p>
        </p:txBody>
      </p:sp>
      <p:sp>
        <p:nvSpPr>
          <p:cNvPr id="132" name="team3name"/>
          <p:cNvSpPr txBox="1"/>
          <p:nvPr/>
        </p:nvSpPr>
        <p:spPr>
          <a:xfrm>
            <a:off x="9235440" y="2331720"/>
            <a:ext cx="2316480" cy="1143000"/>
          </a:xfrm>
          <a:prstGeom prst="rect">
            <a:avLst/>
          </a:prstGeom>
          <a:noFill/>
          <a:ln/>
        </p:spPr>
        <p:txBody>
          <a:bodyPr wrap="square" lIns="0" tIns="0" rIns="0" bIns="0" rtlCol="0" anchor="t"/>
          <a:lstStyle/>
          <a:p>
            <a:pPr marL="0" indent="0">
              <a:buNone/>
            </a:pPr>
            <a:r>
              <a:rPr lang="en-US" sz="1700" b="1" dirty="0">
                <a:solidFill>
                  <a:srgbClr val="0E3B4A"/>
                </a:solidFill>
                <a:latin typeface="Cambria" pitchFamily="34" charset="0"/>
                <a:ea typeface="Cambria" pitchFamily="34" charset="-122"/>
                <a:cs typeface="Cambria" pitchFamily="34" charset="-120"/>
              </a:rPr>
              <a:t>Arbab Hussain Zaidi (you)</a:t>
            </a:r>
            <a:endParaRPr lang="en-US" sz="1700" dirty="0"/>
          </a:p>
        </p:txBody>
      </p:sp>
      <p:sp>
        <p:nvSpPr>
          <p:cNvPr id="200" name="TeamNote"/>
          <p:cNvSpPr txBox="1"/>
          <p:nvPr/>
        </p:nvSpPr>
        <p:spPr>
          <a:xfrm>
            <a:off x="457200" y="4114800"/>
            <a:ext cx="11247120" cy="914400"/>
          </a:xfrm>
          <a:prstGeom prst="rect">
            <a:avLst/>
          </a:prstGeom>
          <a:noFill/>
          <a:ln/>
        </p:spPr>
        <p:txBody>
          <a:bodyPr wrap="square" lIns="0" tIns="0" rIns="0" bIns="0" rtlCol="0" anchor="t"/>
          <a:lstStyle/>
          <a:p>
            <a:pPr marL="0" indent="0">
              <a:buNone/>
            </a:pPr>
            <a:r>
              <a:rPr lang="en-US" sz="1300" i="1" dirty="0">
                <a:solidFill>
                  <a:srgbClr val="5B6B7A"/>
                </a:solidFill>
                <a:latin typeface="Calibri" pitchFamily="34" charset="0"/>
                <a:ea typeface="Calibri" pitchFamily="34" charset="-122"/>
                <a:cs typeface="Calibri" pitchFamily="34" charset="-120"/>
              </a:rPr>
              <a:t>A four-person team of BSc Computer Science students entering the DCT Abu Dhabi sponsor track, building a working, explainable flight-to-hotel demand simulator rather than a static report.</a:t>
            </a:r>
            <a:endParaRPr lang="en-US" sz="1300" i="1"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7A"/>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11247120" cy="685800"/>
          </a:xfrm>
          <a:prstGeom prst="rect">
            <a:avLst/>
          </a:prstGeom>
          <a:noFill/>
          <a:ln/>
        </p:spPr>
        <p:txBody>
          <a:bodyPr wrap="square" lIns="0" tIns="0" rIns="0" bIns="0" rtlCol="0" anchor="ctr"/>
          <a:lstStyle/>
          <a:p>
            <a:pPr marL="0" indent="0" algn="l">
              <a:buNone/>
            </a:pPr>
            <a:r>
              <a:rPr lang="en-US" sz="2800" b="1" dirty="0">
                <a:solidFill>
                  <a:srgbClr val="0E3B4A"/>
                </a:solidFill>
                <a:latin typeface="Cambria" pitchFamily="34" charset="0"/>
                <a:ea typeface="Cambria" pitchFamily="34" charset="-122"/>
                <a:cs typeface="Cambria" pitchFamily="34" charset="-120"/>
              </a:rPr>
              <a:t>Flight data and hotel data mean different things by “country”</a:t>
            </a:r>
            <a:endParaRPr lang="en-US" sz="2800" dirty="0"/>
          </a:p>
        </p:txBody>
      </p:sp>
      <p:sp>
        <p:nvSpPr>
          <p:cNvPr id="3" name="stat0"/>
          <p:cNvSpPr/>
          <p:nvPr/>
        </p:nvSpPr>
        <p:spPr>
          <a:xfrm>
            <a:off x="457200" y="1143000"/>
            <a:ext cx="1709928" cy="960120"/>
          </a:xfrm>
          <a:prstGeom prst="roundRect">
            <a:avLst>
              <a:gd name="adj" fmla="val 7619"/>
            </a:avLst>
          </a:prstGeom>
          <a:solidFill>
            <a:srgbClr val="EEF2F4"/>
          </a:solidFill>
          <a:ln w="12700">
            <a:solidFill>
              <a:srgbClr val="EEF2F4"/>
            </a:solidFill>
            <a:prstDash val="solid"/>
          </a:ln>
        </p:spPr>
        <p:txBody>
          <a:bodyPr/>
          <a:lstStyle/>
          <a:p>
            <a:endParaRPr lang="en-AE"/>
          </a:p>
        </p:txBody>
      </p:sp>
      <p:sp>
        <p:nvSpPr>
          <p:cNvPr id="4" name="Text 2"/>
          <p:cNvSpPr txBox="1"/>
          <p:nvPr/>
        </p:nvSpPr>
        <p:spPr>
          <a:xfrm>
            <a:off x="594360" y="1216152"/>
            <a:ext cx="1463040" cy="502920"/>
          </a:xfrm>
          <a:prstGeom prst="rect">
            <a:avLst/>
          </a:prstGeom>
          <a:noFill/>
          <a:ln/>
        </p:spPr>
        <p:txBody>
          <a:bodyPr wrap="square" lIns="0" tIns="0" rIns="0" bIns="0" rtlCol="0" anchor="t"/>
          <a:lstStyle/>
          <a:p>
            <a:pPr marL="0" indent="0">
              <a:buNone/>
            </a:pPr>
            <a:r>
              <a:rPr lang="en-US" sz="2600" b="1" dirty="0">
                <a:solidFill>
                  <a:srgbClr val="0E7C86"/>
                </a:solidFill>
                <a:latin typeface="Cambria" pitchFamily="34" charset="0"/>
                <a:ea typeface="Cambria" pitchFamily="34" charset="-122"/>
                <a:cs typeface="Cambria" pitchFamily="34" charset="-120"/>
              </a:rPr>
              <a:t>117,608</a:t>
            </a:r>
            <a:endParaRPr lang="en-US" sz="2600" dirty="0"/>
          </a:p>
        </p:txBody>
      </p:sp>
      <p:sp>
        <p:nvSpPr>
          <p:cNvPr id="5" name="Text 3"/>
          <p:cNvSpPr txBox="1"/>
          <p:nvPr/>
        </p:nvSpPr>
        <p:spPr>
          <a:xfrm>
            <a:off x="594360" y="1719072"/>
            <a:ext cx="1508760" cy="274320"/>
          </a:xfrm>
          <a:prstGeom prst="rect">
            <a:avLst/>
          </a:prstGeom>
          <a:noFill/>
          <a:ln/>
        </p:spPr>
        <p:txBody>
          <a:bodyPr wrap="square" lIns="0" tIns="0" rIns="0" bIns="0" rtlCol="0" anchor="t"/>
          <a:lstStyle/>
          <a:p>
            <a:pPr marL="0" indent="0">
              <a:buNone/>
            </a:pPr>
            <a:r>
              <a:rPr lang="en-US" sz="1150" dirty="0">
                <a:solidFill>
                  <a:srgbClr val="5B6B7A"/>
                </a:solidFill>
                <a:latin typeface="Calibri" pitchFamily="34" charset="0"/>
                <a:ea typeface="Calibri" pitchFamily="34" charset="-122"/>
                <a:cs typeface="Calibri" pitchFamily="34" charset="-120"/>
              </a:rPr>
              <a:t>flight rows</a:t>
            </a:r>
            <a:endParaRPr lang="en-US" sz="1150" dirty="0"/>
          </a:p>
        </p:txBody>
      </p:sp>
      <p:sp>
        <p:nvSpPr>
          <p:cNvPr id="6" name="stat1"/>
          <p:cNvSpPr/>
          <p:nvPr/>
        </p:nvSpPr>
        <p:spPr>
          <a:xfrm>
            <a:off x="2350008" y="1143000"/>
            <a:ext cx="1709928" cy="960120"/>
          </a:xfrm>
          <a:prstGeom prst="roundRect">
            <a:avLst>
              <a:gd name="adj" fmla="val 7619"/>
            </a:avLst>
          </a:prstGeom>
          <a:solidFill>
            <a:srgbClr val="EEF2F4"/>
          </a:solidFill>
          <a:ln w="12700">
            <a:solidFill>
              <a:srgbClr val="EEF2F4"/>
            </a:solidFill>
            <a:prstDash val="solid"/>
          </a:ln>
        </p:spPr>
        <p:txBody>
          <a:bodyPr/>
          <a:lstStyle/>
          <a:p>
            <a:endParaRPr lang="en-AE"/>
          </a:p>
        </p:txBody>
      </p:sp>
      <p:sp>
        <p:nvSpPr>
          <p:cNvPr id="7" name="Text 5"/>
          <p:cNvSpPr txBox="1"/>
          <p:nvPr/>
        </p:nvSpPr>
        <p:spPr>
          <a:xfrm>
            <a:off x="2487168" y="1216152"/>
            <a:ext cx="1463040" cy="502920"/>
          </a:xfrm>
          <a:prstGeom prst="rect">
            <a:avLst/>
          </a:prstGeom>
          <a:noFill/>
          <a:ln/>
        </p:spPr>
        <p:txBody>
          <a:bodyPr wrap="square" lIns="0" tIns="0" rIns="0" bIns="0" rtlCol="0" anchor="t"/>
          <a:lstStyle/>
          <a:p>
            <a:pPr marL="0" indent="0">
              <a:buNone/>
            </a:pPr>
            <a:r>
              <a:rPr lang="en-US" sz="2600" b="1" dirty="0">
                <a:solidFill>
                  <a:srgbClr val="0E7C86"/>
                </a:solidFill>
                <a:latin typeface="Cambria" pitchFamily="34" charset="0"/>
                <a:ea typeface="Cambria" pitchFamily="34" charset="-122"/>
                <a:cs typeface="Cambria" pitchFamily="34" charset="-120"/>
              </a:rPr>
              <a:t>33</a:t>
            </a:r>
            <a:endParaRPr lang="en-US" sz="2600" dirty="0"/>
          </a:p>
        </p:txBody>
      </p:sp>
      <p:sp>
        <p:nvSpPr>
          <p:cNvPr id="8" name="Text 6"/>
          <p:cNvSpPr txBox="1"/>
          <p:nvPr/>
        </p:nvSpPr>
        <p:spPr>
          <a:xfrm>
            <a:off x="2487168" y="1719072"/>
            <a:ext cx="1508760" cy="274320"/>
          </a:xfrm>
          <a:prstGeom prst="rect">
            <a:avLst/>
          </a:prstGeom>
          <a:noFill/>
          <a:ln/>
        </p:spPr>
        <p:txBody>
          <a:bodyPr wrap="square" lIns="0" tIns="0" rIns="0" bIns="0" rtlCol="0" anchor="t"/>
          <a:lstStyle/>
          <a:p>
            <a:pPr marL="0" indent="0">
              <a:buNone/>
            </a:pPr>
            <a:r>
              <a:rPr lang="en-US" sz="1150" dirty="0">
                <a:solidFill>
                  <a:srgbClr val="5B6B7A"/>
                </a:solidFill>
                <a:latin typeface="Calibri" pitchFamily="34" charset="0"/>
                <a:ea typeface="Calibri" pitchFamily="34" charset="-122"/>
                <a:cs typeface="Calibri" pitchFamily="34" charset="-120"/>
              </a:rPr>
              <a:t>departure countries</a:t>
            </a:r>
            <a:endParaRPr lang="en-US" sz="1150" dirty="0"/>
          </a:p>
        </p:txBody>
      </p:sp>
      <p:sp>
        <p:nvSpPr>
          <p:cNvPr id="9" name="stat2"/>
          <p:cNvSpPr/>
          <p:nvPr/>
        </p:nvSpPr>
        <p:spPr>
          <a:xfrm>
            <a:off x="4242816" y="1143000"/>
            <a:ext cx="1709928" cy="960120"/>
          </a:xfrm>
          <a:prstGeom prst="roundRect">
            <a:avLst>
              <a:gd name="adj" fmla="val 7619"/>
            </a:avLst>
          </a:prstGeom>
          <a:solidFill>
            <a:srgbClr val="EEF2F4"/>
          </a:solidFill>
          <a:ln w="12700">
            <a:solidFill>
              <a:srgbClr val="EEF2F4"/>
            </a:solidFill>
            <a:prstDash val="solid"/>
          </a:ln>
        </p:spPr>
        <p:txBody>
          <a:bodyPr/>
          <a:lstStyle/>
          <a:p>
            <a:endParaRPr lang="en-AE"/>
          </a:p>
        </p:txBody>
      </p:sp>
      <p:sp>
        <p:nvSpPr>
          <p:cNvPr id="10" name="Text 8"/>
          <p:cNvSpPr txBox="1"/>
          <p:nvPr/>
        </p:nvSpPr>
        <p:spPr>
          <a:xfrm>
            <a:off x="4379976" y="1216152"/>
            <a:ext cx="1463040" cy="502920"/>
          </a:xfrm>
          <a:prstGeom prst="rect">
            <a:avLst/>
          </a:prstGeom>
          <a:noFill/>
          <a:ln/>
        </p:spPr>
        <p:txBody>
          <a:bodyPr wrap="square" lIns="0" tIns="0" rIns="0" bIns="0" rtlCol="0" anchor="t"/>
          <a:lstStyle/>
          <a:p>
            <a:pPr marL="0" indent="0">
              <a:buNone/>
            </a:pPr>
            <a:r>
              <a:rPr lang="en-US" sz="2600" b="1" dirty="0">
                <a:solidFill>
                  <a:srgbClr val="0E7C86"/>
                </a:solidFill>
                <a:latin typeface="Cambria" pitchFamily="34" charset="0"/>
                <a:ea typeface="Cambria" pitchFamily="34" charset="-122"/>
                <a:cs typeface="Cambria" pitchFamily="34" charset="-120"/>
              </a:rPr>
              <a:t>130</a:t>
            </a:r>
            <a:endParaRPr lang="en-US" sz="2600" dirty="0"/>
          </a:p>
        </p:txBody>
      </p:sp>
      <p:sp>
        <p:nvSpPr>
          <p:cNvPr id="11" name="Text 9"/>
          <p:cNvSpPr txBox="1"/>
          <p:nvPr/>
        </p:nvSpPr>
        <p:spPr>
          <a:xfrm>
            <a:off x="4379976" y="1719072"/>
            <a:ext cx="1508760" cy="274320"/>
          </a:xfrm>
          <a:prstGeom prst="rect">
            <a:avLst/>
          </a:prstGeom>
          <a:noFill/>
          <a:ln/>
        </p:spPr>
        <p:txBody>
          <a:bodyPr wrap="square" lIns="0" tIns="0" rIns="0" bIns="0" rtlCol="0" anchor="t"/>
          <a:lstStyle/>
          <a:p>
            <a:pPr marL="0" indent="0">
              <a:buNone/>
            </a:pPr>
            <a:r>
              <a:rPr lang="en-US" sz="1150" dirty="0">
                <a:solidFill>
                  <a:srgbClr val="5B6B7A"/>
                </a:solidFill>
                <a:latin typeface="Calibri" pitchFamily="34" charset="0"/>
                <a:ea typeface="Calibri" pitchFamily="34" charset="-122"/>
                <a:cs typeface="Calibri" pitchFamily="34" charset="-120"/>
              </a:rPr>
              <a:t>departure cities</a:t>
            </a:r>
            <a:endParaRPr lang="en-US" sz="1150" dirty="0"/>
          </a:p>
        </p:txBody>
      </p:sp>
      <p:sp>
        <p:nvSpPr>
          <p:cNvPr id="12" name="stat3"/>
          <p:cNvSpPr/>
          <p:nvPr/>
        </p:nvSpPr>
        <p:spPr>
          <a:xfrm>
            <a:off x="6135624" y="1143000"/>
            <a:ext cx="1709928" cy="960120"/>
          </a:xfrm>
          <a:prstGeom prst="roundRect">
            <a:avLst>
              <a:gd name="adj" fmla="val 7619"/>
            </a:avLst>
          </a:prstGeom>
          <a:solidFill>
            <a:srgbClr val="EEF2F4"/>
          </a:solidFill>
          <a:ln w="12700">
            <a:solidFill>
              <a:srgbClr val="EEF2F4"/>
            </a:solidFill>
            <a:prstDash val="solid"/>
          </a:ln>
        </p:spPr>
        <p:txBody>
          <a:bodyPr/>
          <a:lstStyle/>
          <a:p>
            <a:endParaRPr lang="en-AE"/>
          </a:p>
        </p:txBody>
      </p:sp>
      <p:sp>
        <p:nvSpPr>
          <p:cNvPr id="13" name="Text 11"/>
          <p:cNvSpPr txBox="1"/>
          <p:nvPr/>
        </p:nvSpPr>
        <p:spPr>
          <a:xfrm>
            <a:off x="6272784" y="1216152"/>
            <a:ext cx="1463040" cy="502920"/>
          </a:xfrm>
          <a:prstGeom prst="rect">
            <a:avLst/>
          </a:prstGeom>
          <a:noFill/>
          <a:ln/>
        </p:spPr>
        <p:txBody>
          <a:bodyPr wrap="square" lIns="0" tIns="0" rIns="0" bIns="0" rtlCol="0" anchor="t"/>
          <a:lstStyle/>
          <a:p>
            <a:pPr marL="0" indent="0">
              <a:buNone/>
            </a:pPr>
            <a:r>
              <a:rPr lang="en-US" sz="2600" b="1" dirty="0">
                <a:solidFill>
                  <a:srgbClr val="0E7C86"/>
                </a:solidFill>
                <a:latin typeface="Cambria" pitchFamily="34" charset="0"/>
                <a:ea typeface="Cambria" pitchFamily="34" charset="-122"/>
                <a:cs typeface="Cambria" pitchFamily="34" charset="-120"/>
              </a:rPr>
              <a:t>59</a:t>
            </a:r>
            <a:endParaRPr lang="en-US" sz="2600" dirty="0"/>
          </a:p>
        </p:txBody>
      </p:sp>
      <p:sp>
        <p:nvSpPr>
          <p:cNvPr id="14" name="Text 12"/>
          <p:cNvSpPr txBox="1"/>
          <p:nvPr/>
        </p:nvSpPr>
        <p:spPr>
          <a:xfrm>
            <a:off x="6272784" y="1719072"/>
            <a:ext cx="1508760" cy="274320"/>
          </a:xfrm>
          <a:prstGeom prst="rect">
            <a:avLst/>
          </a:prstGeom>
          <a:noFill/>
          <a:ln/>
        </p:spPr>
        <p:txBody>
          <a:bodyPr wrap="square" lIns="0" tIns="0" rIns="0" bIns="0" rtlCol="0" anchor="t"/>
          <a:lstStyle/>
          <a:p>
            <a:pPr marL="0" indent="0">
              <a:buNone/>
            </a:pPr>
            <a:r>
              <a:rPr lang="en-US" sz="1150" dirty="0">
                <a:solidFill>
                  <a:srgbClr val="5B6B7A"/>
                </a:solidFill>
                <a:latin typeface="Calibri" pitchFamily="34" charset="0"/>
                <a:ea typeface="Calibri" pitchFamily="34" charset="-122"/>
                <a:cs typeface="Calibri" pitchFamily="34" charset="-120"/>
              </a:rPr>
              <a:t>airlines</a:t>
            </a:r>
            <a:endParaRPr lang="en-US" sz="1150" dirty="0"/>
          </a:p>
        </p:txBody>
      </p:sp>
      <p:sp>
        <p:nvSpPr>
          <p:cNvPr id="15" name="stat4"/>
          <p:cNvSpPr/>
          <p:nvPr/>
        </p:nvSpPr>
        <p:spPr>
          <a:xfrm>
            <a:off x="8028432" y="1143000"/>
            <a:ext cx="1709928" cy="960120"/>
          </a:xfrm>
          <a:prstGeom prst="roundRect">
            <a:avLst>
              <a:gd name="adj" fmla="val 7619"/>
            </a:avLst>
          </a:prstGeom>
          <a:solidFill>
            <a:srgbClr val="EEF2F4"/>
          </a:solidFill>
          <a:ln w="12700">
            <a:solidFill>
              <a:srgbClr val="EEF2F4"/>
            </a:solidFill>
            <a:prstDash val="solid"/>
          </a:ln>
        </p:spPr>
        <p:txBody>
          <a:bodyPr/>
          <a:lstStyle/>
          <a:p>
            <a:endParaRPr lang="en-AE"/>
          </a:p>
        </p:txBody>
      </p:sp>
      <p:sp>
        <p:nvSpPr>
          <p:cNvPr id="16" name="Text 14"/>
          <p:cNvSpPr txBox="1"/>
          <p:nvPr/>
        </p:nvSpPr>
        <p:spPr>
          <a:xfrm>
            <a:off x="8165592" y="1216152"/>
            <a:ext cx="1463040" cy="502920"/>
          </a:xfrm>
          <a:prstGeom prst="rect">
            <a:avLst/>
          </a:prstGeom>
          <a:noFill/>
          <a:ln/>
        </p:spPr>
        <p:txBody>
          <a:bodyPr wrap="square" lIns="0" tIns="0" rIns="0" bIns="0" rtlCol="0" anchor="t"/>
          <a:lstStyle/>
          <a:p>
            <a:pPr marL="0" indent="0">
              <a:buNone/>
            </a:pPr>
            <a:r>
              <a:rPr lang="en-US" sz="2600" b="1" dirty="0">
                <a:solidFill>
                  <a:srgbClr val="D4A03A"/>
                </a:solidFill>
                <a:latin typeface="Cambria" pitchFamily="34" charset="0"/>
                <a:ea typeface="Cambria" pitchFamily="34" charset="-122"/>
                <a:cs typeface="Cambria" pitchFamily="34" charset="-120"/>
              </a:rPr>
              <a:t>45</a:t>
            </a:r>
            <a:endParaRPr lang="en-US" sz="2600" dirty="0"/>
          </a:p>
        </p:txBody>
      </p:sp>
      <p:sp>
        <p:nvSpPr>
          <p:cNvPr id="17" name="Text 15"/>
          <p:cNvSpPr txBox="1"/>
          <p:nvPr/>
        </p:nvSpPr>
        <p:spPr>
          <a:xfrm>
            <a:off x="8165592" y="1719072"/>
            <a:ext cx="1508760" cy="274320"/>
          </a:xfrm>
          <a:prstGeom prst="rect">
            <a:avLst/>
          </a:prstGeom>
          <a:noFill/>
          <a:ln/>
        </p:spPr>
        <p:txBody>
          <a:bodyPr wrap="square" lIns="0" tIns="0" rIns="0" bIns="0" rtlCol="0" anchor="t"/>
          <a:lstStyle/>
          <a:p>
            <a:pPr marL="0" indent="0">
              <a:buNone/>
            </a:pPr>
            <a:r>
              <a:rPr lang="en-US" sz="1150" dirty="0">
                <a:solidFill>
                  <a:srgbClr val="5B6B7A"/>
                </a:solidFill>
                <a:latin typeface="Calibri" pitchFamily="34" charset="0"/>
                <a:ea typeface="Calibri" pitchFamily="34" charset="-122"/>
                <a:cs typeface="Calibri" pitchFamily="34" charset="-120"/>
              </a:rPr>
              <a:t>hotel nationalities</a:t>
            </a:r>
            <a:endParaRPr lang="en-US" sz="1150" dirty="0"/>
          </a:p>
        </p:txBody>
      </p:sp>
      <p:sp>
        <p:nvSpPr>
          <p:cNvPr id="18" name="stat5"/>
          <p:cNvSpPr/>
          <p:nvPr/>
        </p:nvSpPr>
        <p:spPr>
          <a:xfrm>
            <a:off x="9921240" y="1143000"/>
            <a:ext cx="1709928" cy="960120"/>
          </a:xfrm>
          <a:prstGeom prst="roundRect">
            <a:avLst>
              <a:gd name="adj" fmla="val 7619"/>
            </a:avLst>
          </a:prstGeom>
          <a:solidFill>
            <a:srgbClr val="EEF2F4"/>
          </a:solidFill>
          <a:ln w="12700">
            <a:solidFill>
              <a:srgbClr val="EEF2F4"/>
            </a:solidFill>
            <a:prstDash val="solid"/>
          </a:ln>
        </p:spPr>
        <p:txBody>
          <a:bodyPr/>
          <a:lstStyle/>
          <a:p>
            <a:endParaRPr lang="en-AE"/>
          </a:p>
        </p:txBody>
      </p:sp>
      <p:sp>
        <p:nvSpPr>
          <p:cNvPr id="19" name="Text 17"/>
          <p:cNvSpPr txBox="1"/>
          <p:nvPr/>
        </p:nvSpPr>
        <p:spPr>
          <a:xfrm>
            <a:off x="10058400" y="1216152"/>
            <a:ext cx="1463040" cy="502920"/>
          </a:xfrm>
          <a:prstGeom prst="rect">
            <a:avLst/>
          </a:prstGeom>
          <a:noFill/>
          <a:ln/>
        </p:spPr>
        <p:txBody>
          <a:bodyPr wrap="square" lIns="0" tIns="0" rIns="0" bIns="0" rtlCol="0" anchor="t"/>
          <a:lstStyle/>
          <a:p>
            <a:pPr marL="0" indent="0">
              <a:buNone/>
            </a:pPr>
            <a:r>
              <a:rPr lang="en-US" sz="2600" b="1" dirty="0">
                <a:solidFill>
                  <a:srgbClr val="D4A03A"/>
                </a:solidFill>
                <a:latin typeface="Cambria" pitchFamily="34" charset="0"/>
                <a:ea typeface="Cambria" pitchFamily="34" charset="-122"/>
                <a:cs typeface="Cambria" pitchFamily="34" charset="-120"/>
              </a:rPr>
              <a:t>12</a:t>
            </a:r>
            <a:endParaRPr lang="en-US" sz="2600" dirty="0"/>
          </a:p>
        </p:txBody>
      </p:sp>
      <p:sp>
        <p:nvSpPr>
          <p:cNvPr id="20" name="Text 18"/>
          <p:cNvSpPr txBox="1"/>
          <p:nvPr/>
        </p:nvSpPr>
        <p:spPr>
          <a:xfrm>
            <a:off x="10058400" y="1719072"/>
            <a:ext cx="1508760" cy="274320"/>
          </a:xfrm>
          <a:prstGeom prst="rect">
            <a:avLst/>
          </a:prstGeom>
          <a:noFill/>
          <a:ln/>
        </p:spPr>
        <p:txBody>
          <a:bodyPr wrap="square" lIns="0" tIns="0" rIns="0" bIns="0" rtlCol="0" anchor="t"/>
          <a:lstStyle/>
          <a:p>
            <a:pPr marL="0" indent="0">
              <a:buNone/>
            </a:pPr>
            <a:r>
              <a:rPr lang="en-US" sz="1150" dirty="0">
                <a:solidFill>
                  <a:srgbClr val="5B6B7A"/>
                </a:solidFill>
                <a:latin typeface="Calibri" pitchFamily="34" charset="0"/>
                <a:ea typeface="Calibri" pitchFamily="34" charset="-122"/>
                <a:cs typeface="Calibri" pitchFamily="34" charset="-120"/>
              </a:rPr>
              <a:t>hotel-only nationalities</a:t>
            </a:r>
            <a:endParaRPr lang="en-US" sz="1150" dirty="0"/>
          </a:p>
        </p:txBody>
      </p:sp>
      <p:sp>
        <p:nvSpPr>
          <p:cNvPr id="21" name="airdef"/>
          <p:cNvSpPr/>
          <p:nvPr/>
        </p:nvSpPr>
        <p:spPr>
          <a:xfrm>
            <a:off x="457200" y="2377440"/>
            <a:ext cx="3566160" cy="1508760"/>
          </a:xfrm>
          <a:prstGeom prst="roundRect">
            <a:avLst>
              <a:gd name="adj" fmla="val 4848"/>
            </a:avLst>
          </a:prstGeom>
          <a:solidFill>
            <a:srgbClr val="E3F1F2"/>
          </a:solidFill>
          <a:ln w="12700">
            <a:solidFill>
              <a:srgbClr val="E3F1F2"/>
            </a:solidFill>
            <a:prstDash val="solid"/>
          </a:ln>
        </p:spPr>
        <p:txBody>
          <a:bodyPr/>
          <a:lstStyle/>
          <a:p>
            <a:endParaRPr lang="en-AE"/>
          </a:p>
        </p:txBody>
      </p:sp>
      <p:sp>
        <p:nvSpPr>
          <p:cNvPr id="22" name="Text 20"/>
          <p:cNvSpPr txBox="1"/>
          <p:nvPr/>
        </p:nvSpPr>
        <p:spPr>
          <a:xfrm>
            <a:off x="640080" y="2514600"/>
            <a:ext cx="3200400" cy="274320"/>
          </a:xfrm>
          <a:prstGeom prst="rect">
            <a:avLst/>
          </a:prstGeom>
          <a:noFill/>
          <a:ln/>
        </p:spPr>
        <p:txBody>
          <a:bodyPr wrap="square" lIns="0" tIns="0" rIns="0" bIns="0" rtlCol="0" anchor="t"/>
          <a:lstStyle/>
          <a:p>
            <a:pPr marL="0" indent="0">
              <a:buNone/>
            </a:pPr>
            <a:r>
              <a:rPr lang="en-US" sz="1100" b="1" kern="0" spc="100" dirty="0">
                <a:solidFill>
                  <a:srgbClr val="0E7C86"/>
                </a:solidFill>
                <a:latin typeface="Calibri" pitchFamily="34" charset="0"/>
                <a:ea typeface="Calibri" pitchFamily="34" charset="-122"/>
                <a:cs typeface="Calibri" pitchFamily="34" charset="-120"/>
              </a:rPr>
              <a:t>FLIGHT FILE · AVIATION TEAM</a:t>
            </a:r>
            <a:endParaRPr lang="en-US" sz="1100" dirty="0"/>
          </a:p>
        </p:txBody>
      </p:sp>
      <p:sp>
        <p:nvSpPr>
          <p:cNvPr id="23" name="Text 21"/>
          <p:cNvSpPr txBox="1"/>
          <p:nvPr/>
        </p:nvSpPr>
        <p:spPr>
          <a:xfrm>
            <a:off x="640080" y="2834640"/>
            <a:ext cx="3200400" cy="960120"/>
          </a:xfrm>
          <a:prstGeom prst="rect">
            <a:avLst/>
          </a:prstGeom>
          <a:noFill/>
          <a:ln/>
        </p:spPr>
        <p:txBody>
          <a:bodyPr wrap="square" lIns="0" tIns="0" rIns="0" bIns="0" rtlCol="0" anchor="t"/>
          <a:lstStyle/>
          <a:p>
            <a:pPr marL="0" indent="0">
              <a:buNone/>
            </a:pPr>
            <a:r>
              <a:rPr lang="en-US" sz="1300" dirty="0">
                <a:solidFill>
                  <a:srgbClr val="1B2430"/>
                </a:solidFill>
                <a:latin typeface="Calibri" pitchFamily="34" charset="0"/>
                <a:ea typeface="Calibri" pitchFamily="34" charset="-122"/>
                <a:cs typeface="Calibri" pitchFamily="34" charset="-120"/>
              </a:rPr>
              <a:t>“Country” = where the aircraft departed. Holds flights, seats, filled seats, passengers, P2P, transfer, transit.</a:t>
            </a:r>
            <a:endParaRPr lang="en-US" sz="1300" dirty="0"/>
          </a:p>
        </p:txBody>
      </p:sp>
      <p:sp>
        <p:nvSpPr>
          <p:cNvPr id="24" name="hoteldef"/>
          <p:cNvSpPr/>
          <p:nvPr/>
        </p:nvSpPr>
        <p:spPr>
          <a:xfrm>
            <a:off x="457200" y="4069080"/>
            <a:ext cx="3566160" cy="1508760"/>
          </a:xfrm>
          <a:prstGeom prst="roundRect">
            <a:avLst>
              <a:gd name="adj" fmla="val 4848"/>
            </a:avLst>
          </a:prstGeom>
          <a:solidFill>
            <a:srgbClr val="F7EEDA"/>
          </a:solidFill>
          <a:ln w="12700">
            <a:solidFill>
              <a:srgbClr val="F7EEDA"/>
            </a:solidFill>
            <a:prstDash val="solid"/>
          </a:ln>
        </p:spPr>
        <p:txBody>
          <a:bodyPr/>
          <a:lstStyle/>
          <a:p>
            <a:endParaRPr lang="en-AE"/>
          </a:p>
        </p:txBody>
      </p:sp>
      <p:sp>
        <p:nvSpPr>
          <p:cNvPr id="25" name="Text 23"/>
          <p:cNvSpPr txBox="1"/>
          <p:nvPr/>
        </p:nvSpPr>
        <p:spPr>
          <a:xfrm>
            <a:off x="640080" y="4206240"/>
            <a:ext cx="3200400" cy="274320"/>
          </a:xfrm>
          <a:prstGeom prst="rect">
            <a:avLst/>
          </a:prstGeom>
          <a:noFill/>
          <a:ln/>
        </p:spPr>
        <p:txBody>
          <a:bodyPr wrap="square" lIns="0" tIns="0" rIns="0" bIns="0" rtlCol="0" anchor="t"/>
          <a:lstStyle/>
          <a:p>
            <a:pPr marL="0" indent="0">
              <a:buNone/>
            </a:pPr>
            <a:r>
              <a:rPr lang="en-US" sz="1100" b="1" kern="0" spc="100" dirty="0">
                <a:solidFill>
                  <a:srgbClr val="9A7020"/>
                </a:solidFill>
                <a:latin typeface="Calibri" pitchFamily="34" charset="0"/>
                <a:ea typeface="Calibri" pitchFamily="34" charset="-122"/>
                <a:cs typeface="Calibri" pitchFamily="34" charset="-120"/>
              </a:rPr>
              <a:t>HOTEL FILE · HOTEL TEAM</a:t>
            </a:r>
            <a:endParaRPr lang="en-US" sz="1100" dirty="0"/>
          </a:p>
        </p:txBody>
      </p:sp>
      <p:sp>
        <p:nvSpPr>
          <p:cNvPr id="26" name="Text 24"/>
          <p:cNvSpPr txBox="1"/>
          <p:nvPr/>
        </p:nvSpPr>
        <p:spPr>
          <a:xfrm>
            <a:off x="640080" y="4526280"/>
            <a:ext cx="3200400" cy="960120"/>
          </a:xfrm>
          <a:prstGeom prst="rect">
            <a:avLst/>
          </a:prstGeom>
          <a:noFill/>
          <a:ln/>
        </p:spPr>
        <p:txBody>
          <a:bodyPr wrap="square" lIns="0" tIns="0" rIns="0" bIns="0" rtlCol="0" anchor="t"/>
          <a:lstStyle/>
          <a:p>
            <a:pPr marL="0" indent="0">
              <a:buNone/>
            </a:pPr>
            <a:r>
              <a:rPr lang="en-US" sz="1300" dirty="0">
                <a:solidFill>
                  <a:srgbClr val="1B2430"/>
                </a:solidFill>
                <a:latin typeface="Calibri" pitchFamily="34" charset="0"/>
                <a:ea typeface="Calibri" pitchFamily="34" charset="-122"/>
                <a:cs typeface="Calibri" pitchFamily="34" charset="-120"/>
              </a:rPr>
              <a:t>“Country” = the guest’s passport nationality. Holds daily New Arrivals, Guests and Same-Day Guests.</a:t>
            </a:r>
            <a:endParaRPr lang="en-US" sz="1300" dirty="0"/>
          </a:p>
        </p:txBody>
      </p:sp>
      <p:sp>
        <p:nvSpPr>
          <p:cNvPr id="27" name="Text 25"/>
          <p:cNvSpPr txBox="1"/>
          <p:nvPr/>
        </p:nvSpPr>
        <p:spPr>
          <a:xfrm>
            <a:off x="4389120" y="2377440"/>
            <a:ext cx="7315200" cy="274320"/>
          </a:xfrm>
          <a:prstGeom prst="rect">
            <a:avLst/>
          </a:prstGeom>
          <a:noFill/>
          <a:ln/>
        </p:spPr>
        <p:txBody>
          <a:bodyPr wrap="square" lIns="0" tIns="0" rIns="0" bIns="0" rtlCol="0" anchor="t"/>
          <a:lstStyle/>
          <a:p>
            <a:pPr marL="0" indent="0">
              <a:buNone/>
            </a:pPr>
            <a:r>
              <a:rPr lang="en-US" sz="1100" b="1" kern="0" spc="100" dirty="0">
                <a:solidFill>
                  <a:srgbClr val="0E7C86"/>
                </a:solidFill>
                <a:latin typeface="Calibri" pitchFamily="34" charset="0"/>
                <a:ea typeface="Calibri" pitchFamily="34" charset="-122"/>
                <a:cs typeface="Calibri" pitchFamily="34" charset="-120"/>
              </a:rPr>
              <a:t>WHY THE TWO CAN’T SIMPLY BE MATCHED</a:t>
            </a:r>
            <a:endParaRPr lang="en-US" sz="11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389120" y="2697480"/>
          <a:ext cx="7315200" cy="1295400"/>
        </p:xfrm>
        <a:graphic>
          <a:graphicData uri="http://schemas.openxmlformats.org/drawingml/2006/table">
            <a:tbl>
              <a:tblPr/>
              <a:tblGrid>
                <a:gridCol w="365760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tblGrid>
              <a:tr h="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Traveller</a:t>
                      </a:r>
                      <a:endParaRPr lang="en-US" sz="120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0E3B4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Flight file says</a:t>
                      </a:r>
                      <a:endParaRPr lang="en-US" sz="120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0E3B4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Hotel file says</a:t>
                      </a:r>
                      <a:endParaRPr lang="en-US" sz="120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0E3B4A"/>
                    </a:solidFill>
                  </a:tcPr>
                </a:tc>
                <a:extLst>
                  <a:ext uri="{0D108BD9-81ED-4DB2-BD59-A6C34878D82A}">
                    <a16:rowId xmlns:a16="http://schemas.microsoft.com/office/drawing/2014/main" val="10000"/>
                  </a:ext>
                </a:extLst>
              </a:tr>
              <a:tr h="0">
                <a:tc>
                  <a:txBody>
                    <a:bodyPr/>
                    <a:lstStyle/>
                    <a:p>
                      <a:pPr marL="0" indent="0">
                        <a:buNone/>
                      </a:pPr>
                      <a:r>
                        <a:rPr lang="en-US" sz="1200" dirty="0">
                          <a:solidFill>
                            <a:srgbClr val="1B2430"/>
                          </a:solidFill>
                          <a:latin typeface="Calibri" pitchFamily="34" charset="0"/>
                          <a:ea typeface="Calibri" pitchFamily="34" charset="-122"/>
                          <a:cs typeface="Calibri" pitchFamily="34" charset="-120"/>
                        </a:rPr>
                        <a:t>Australian passport holder flies from London</a:t>
                      </a:r>
                      <a:endParaRPr lang="en-US" sz="120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F5F8F9"/>
                    </a:solidFill>
                  </a:tcPr>
                </a:tc>
                <a:tc>
                  <a:txBody>
                    <a:bodyPr/>
                    <a:lstStyle/>
                    <a:p>
                      <a:pPr marL="0" indent="0">
                        <a:buNone/>
                      </a:pPr>
                      <a:r>
                        <a:rPr lang="en-US" sz="1200" dirty="0">
                          <a:solidFill>
                            <a:srgbClr val="1B2430"/>
                          </a:solidFill>
                          <a:latin typeface="Calibri" pitchFamily="34" charset="0"/>
                          <a:ea typeface="Calibri" pitchFamily="34" charset="-122"/>
                          <a:cs typeface="Calibri" pitchFamily="34" charset="-120"/>
                        </a:rPr>
                        <a:t>United Kingdom</a:t>
                      </a:r>
                      <a:endParaRPr lang="en-US" sz="120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F5F8F9"/>
                    </a:solidFill>
                  </a:tcPr>
                </a:tc>
                <a:tc>
                  <a:txBody>
                    <a:bodyPr/>
                    <a:lstStyle/>
                    <a:p>
                      <a:pPr marL="0" indent="0">
                        <a:buNone/>
                      </a:pPr>
                      <a:r>
                        <a:rPr lang="en-US" sz="1200" dirty="0">
                          <a:solidFill>
                            <a:srgbClr val="1B2430"/>
                          </a:solidFill>
                          <a:latin typeface="Calibri" pitchFamily="34" charset="0"/>
                          <a:ea typeface="Calibri" pitchFamily="34" charset="-122"/>
                          <a:cs typeface="Calibri" pitchFamily="34" charset="-120"/>
                        </a:rPr>
                        <a:t>Australia</a:t>
                      </a:r>
                      <a:endParaRPr lang="en-US" sz="120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F5F8F9"/>
                    </a:solidFill>
                  </a:tcPr>
                </a:tc>
                <a:extLst>
                  <a:ext uri="{0D108BD9-81ED-4DB2-BD59-A6C34878D82A}">
                    <a16:rowId xmlns:a16="http://schemas.microsoft.com/office/drawing/2014/main" val="10001"/>
                  </a:ext>
                </a:extLst>
              </a:tr>
              <a:tr h="0">
                <a:tc>
                  <a:txBody>
                    <a:bodyPr/>
                    <a:lstStyle/>
                    <a:p>
                      <a:pPr marL="0" indent="0">
                        <a:buNone/>
                      </a:pPr>
                      <a:r>
                        <a:rPr lang="en-US" sz="1200" dirty="0">
                          <a:solidFill>
                            <a:srgbClr val="1B2430"/>
                          </a:solidFill>
                          <a:latin typeface="Calibri" pitchFamily="34" charset="0"/>
                          <a:ea typeface="Calibri" pitchFamily="34" charset="-122"/>
                          <a:cs typeface="Calibri" pitchFamily="34" charset="-120"/>
                        </a:rPr>
                        <a:t>UK passport holder flies from Delhi</a:t>
                      </a:r>
                      <a:endParaRPr lang="en-US" sz="120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FFFFFF"/>
                    </a:solidFill>
                  </a:tcPr>
                </a:tc>
                <a:tc>
                  <a:txBody>
                    <a:bodyPr/>
                    <a:lstStyle/>
                    <a:p>
                      <a:pPr marL="0" indent="0">
                        <a:buNone/>
                      </a:pPr>
                      <a:r>
                        <a:rPr lang="en-US" sz="1200" dirty="0">
                          <a:solidFill>
                            <a:srgbClr val="1B2430"/>
                          </a:solidFill>
                          <a:latin typeface="Calibri" pitchFamily="34" charset="0"/>
                          <a:ea typeface="Calibri" pitchFamily="34" charset="-122"/>
                          <a:cs typeface="Calibri" pitchFamily="34" charset="-120"/>
                        </a:rPr>
                        <a:t>India</a:t>
                      </a:r>
                      <a:endParaRPr lang="en-US" sz="120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FFFFFF"/>
                    </a:solidFill>
                  </a:tcPr>
                </a:tc>
                <a:tc>
                  <a:txBody>
                    <a:bodyPr/>
                    <a:lstStyle/>
                    <a:p>
                      <a:pPr marL="0" indent="0">
                        <a:buNone/>
                      </a:pPr>
                      <a:r>
                        <a:rPr lang="en-US" sz="1200" dirty="0">
                          <a:solidFill>
                            <a:srgbClr val="1B2430"/>
                          </a:solidFill>
                          <a:latin typeface="Calibri" pitchFamily="34" charset="0"/>
                          <a:ea typeface="Calibri" pitchFamily="34" charset="-122"/>
                          <a:cs typeface="Calibri" pitchFamily="34" charset="-120"/>
                        </a:rPr>
                        <a:t>United Kingdom</a:t>
                      </a:r>
                      <a:endParaRPr lang="en-US" sz="120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200" dirty="0">
                          <a:solidFill>
                            <a:srgbClr val="1B2430"/>
                          </a:solidFill>
                          <a:latin typeface="Calibri" pitchFamily="34" charset="0"/>
                          <a:ea typeface="Calibri" pitchFamily="34" charset="-122"/>
                          <a:cs typeface="Calibri" pitchFamily="34" charset="-120"/>
                        </a:rPr>
                        <a:t>Indian resident returns home</a:t>
                      </a:r>
                      <a:endParaRPr lang="en-US" sz="120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F5F8F9"/>
                    </a:solidFill>
                  </a:tcPr>
                </a:tc>
                <a:tc>
                  <a:txBody>
                    <a:bodyPr/>
                    <a:lstStyle/>
                    <a:p>
                      <a:pPr marL="0" indent="0">
                        <a:buNone/>
                      </a:pPr>
                      <a:r>
                        <a:rPr lang="en-US" sz="1200" dirty="0">
                          <a:solidFill>
                            <a:srgbClr val="1B2430"/>
                          </a:solidFill>
                          <a:latin typeface="Calibri" pitchFamily="34" charset="0"/>
                          <a:ea typeface="Calibri" pitchFamily="34" charset="-122"/>
                          <a:cs typeface="Calibri" pitchFamily="34" charset="-120"/>
                        </a:rPr>
                        <a:t>India</a:t>
                      </a:r>
                      <a:endParaRPr lang="en-US" sz="120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F5F8F9"/>
                    </a:solidFill>
                  </a:tcPr>
                </a:tc>
                <a:tc>
                  <a:txBody>
                    <a:bodyPr/>
                    <a:lstStyle/>
                    <a:p>
                      <a:pPr marL="0" indent="0">
                        <a:buNone/>
                      </a:pPr>
                      <a:r>
                        <a:rPr lang="en-US" sz="1200" dirty="0">
                          <a:solidFill>
                            <a:srgbClr val="1B2430"/>
                          </a:solidFill>
                          <a:latin typeface="Calibri" pitchFamily="34" charset="0"/>
                          <a:ea typeface="Calibri" pitchFamily="34" charset="-122"/>
                          <a:cs typeface="Calibri" pitchFamily="34" charset="-120"/>
                        </a:rPr>
                        <a:t>No hotel check-in</a:t>
                      </a:r>
                      <a:endParaRPr lang="en-US" sz="120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F5F8F9"/>
                    </a:solidFill>
                  </a:tcPr>
                </a:tc>
                <a:extLst>
                  <a:ext uri="{0D108BD9-81ED-4DB2-BD59-A6C34878D82A}">
                    <a16:rowId xmlns:a16="http://schemas.microsoft.com/office/drawing/2014/main" val="10003"/>
                  </a:ext>
                </a:extLst>
              </a:tr>
              <a:tr h="0">
                <a:tc>
                  <a:txBody>
                    <a:bodyPr/>
                    <a:lstStyle/>
                    <a:p>
                      <a:pPr marL="0" indent="0">
                        <a:buNone/>
                      </a:pPr>
                      <a:r>
                        <a:rPr lang="en-US" sz="1200" dirty="0">
                          <a:solidFill>
                            <a:srgbClr val="1B2430"/>
                          </a:solidFill>
                          <a:latin typeface="Calibri" pitchFamily="34" charset="0"/>
                          <a:ea typeface="Calibri" pitchFamily="34" charset="-122"/>
                          <a:cs typeface="Calibri" pitchFamily="34" charset="-120"/>
                        </a:rPr>
                        <a:t>Transfer passenger continuing to Europe</a:t>
                      </a:r>
                      <a:endParaRPr lang="en-US" sz="120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FFFFFF"/>
                    </a:solidFill>
                  </a:tcPr>
                </a:tc>
                <a:tc>
                  <a:txBody>
                    <a:bodyPr/>
                    <a:lstStyle/>
                    <a:p>
                      <a:pPr marL="0" indent="0">
                        <a:buNone/>
                      </a:pPr>
                      <a:r>
                        <a:rPr lang="en-US" sz="1200" dirty="0">
                          <a:solidFill>
                            <a:srgbClr val="1B2430"/>
                          </a:solidFill>
                          <a:latin typeface="Calibri" pitchFamily="34" charset="0"/>
                          <a:ea typeface="Calibri" pitchFamily="34" charset="-122"/>
                          <a:cs typeface="Calibri" pitchFamily="34" charset="-120"/>
                        </a:rPr>
                        <a:t>India</a:t>
                      </a:r>
                      <a:endParaRPr lang="en-US" sz="120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FFFFFF"/>
                    </a:solidFill>
                  </a:tcPr>
                </a:tc>
                <a:tc>
                  <a:txBody>
                    <a:bodyPr/>
                    <a:lstStyle/>
                    <a:p>
                      <a:pPr marL="0" indent="0">
                        <a:buNone/>
                      </a:pPr>
                      <a:r>
                        <a:rPr lang="en-US" sz="1200" dirty="0">
                          <a:solidFill>
                            <a:srgbClr val="1B2430"/>
                          </a:solidFill>
                          <a:latin typeface="Calibri" pitchFamily="34" charset="0"/>
                          <a:ea typeface="Calibri" pitchFamily="34" charset="-122"/>
                          <a:cs typeface="Calibri" pitchFamily="34" charset="-120"/>
                        </a:rPr>
                        <a:t>No Abu Dhabi check-in</a:t>
                      </a:r>
                      <a:endParaRPr lang="en-US" sz="120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29" name="Text 26"/>
          <p:cNvSpPr txBox="1"/>
          <p:nvPr/>
        </p:nvSpPr>
        <p:spPr>
          <a:xfrm>
            <a:off x="4389120" y="4572000"/>
            <a:ext cx="7315200" cy="640080"/>
          </a:xfrm>
          <a:prstGeom prst="rect">
            <a:avLst/>
          </a:prstGeom>
          <a:noFill/>
          <a:ln/>
        </p:spPr>
        <p:txBody>
          <a:bodyPr wrap="square" lIns="0" tIns="0" rIns="0" bIns="0" rtlCol="0" anchor="t"/>
          <a:lstStyle/>
          <a:p>
            <a:pPr marL="0" indent="0">
              <a:buNone/>
            </a:pPr>
            <a:r>
              <a:rPr lang="en-US" sz="1200" b="1" dirty="0">
                <a:solidFill>
                  <a:srgbClr val="1B2430"/>
                </a:solidFill>
                <a:latin typeface="Calibri" pitchFamily="34" charset="0"/>
                <a:ea typeface="Calibri" pitchFamily="34" charset="-122"/>
                <a:cs typeface="Calibri" pitchFamily="34" charset="-120"/>
              </a:rPr>
              <a:t>The 12 hotel-only nationalities </a:t>
            </a:r>
            <a:r>
              <a:rPr lang="en-US" sz="1200" dirty="0">
                <a:solidFill>
                  <a:srgbClr val="1B2430"/>
                </a:solidFill>
                <a:latin typeface="Calibri" pitchFamily="34" charset="0"/>
                <a:ea typeface="Calibri" pitchFamily="34" charset="-122"/>
                <a:cs typeface="Calibri" pitchFamily="34" charset="-120"/>
              </a:rPr>
              <a:t>(no same-named departure country): Australia, Brazil, Czechia, Denmark, Finland, Mexico, Morocco, Norway, Pakistan, Romania, South Africa, Sweden. The other 33 names match exactly.</a:t>
            </a:r>
            <a:endParaRPr lang="en-US" sz="1200" dirty="0"/>
          </a:p>
        </p:txBody>
      </p:sp>
      <p:sp>
        <p:nvSpPr>
          <p:cNvPr id="30" name="Text 27"/>
          <p:cNvSpPr txBox="1"/>
          <p:nvPr/>
        </p:nvSpPr>
        <p:spPr>
          <a:xfrm>
            <a:off x="4389120" y="5257800"/>
            <a:ext cx="7315200" cy="548640"/>
          </a:xfrm>
          <a:prstGeom prst="rect">
            <a:avLst/>
          </a:prstGeom>
          <a:noFill/>
          <a:ln/>
        </p:spPr>
        <p:txBody>
          <a:bodyPr wrap="square" lIns="0" tIns="0" rIns="0" bIns="0" rtlCol="0" anchor="t"/>
          <a:lstStyle/>
          <a:p>
            <a:pPr marL="0" indent="0">
              <a:buNone/>
            </a:pPr>
            <a:r>
              <a:rPr lang="en-US" sz="1200" i="1" dirty="0">
                <a:solidFill>
                  <a:srgbClr val="5B6B7A"/>
                </a:solidFill>
                <a:latin typeface="Calibri" pitchFamily="34" charset="0"/>
                <a:ea typeface="Calibri" pitchFamily="34" charset="-122"/>
                <a:cs typeface="Calibri" pitchFamily="34" charset="-120"/>
              </a:rPr>
              <a:t>Both files are correct: they answer different questions. Air2Stay builds an estimated bridge between them instead of pretending the fields are the same.</a:t>
            </a:r>
            <a:endParaRPr lang="en-US" sz="1200" dirty="0"/>
          </a:p>
        </p:txBody>
      </p:sp>
      <p:sp>
        <p:nvSpPr>
          <p:cNvPr id="31"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7A"/>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11247120" cy="685800"/>
          </a:xfrm>
          <a:prstGeom prst="rect">
            <a:avLst/>
          </a:prstGeom>
          <a:noFill/>
          <a:ln/>
        </p:spPr>
        <p:txBody>
          <a:bodyPr wrap="square" lIns="0" tIns="0" rIns="0" bIns="0" rtlCol="0" anchor="ctr"/>
          <a:lstStyle/>
          <a:p>
            <a:pPr marL="0" indent="0" algn="l">
              <a:buNone/>
            </a:pPr>
            <a:r>
              <a:rPr lang="en-US" sz="2800" b="1" dirty="0">
                <a:solidFill>
                  <a:srgbClr val="0E3B4A"/>
                </a:solidFill>
                <a:latin typeface="Cambria" pitchFamily="34" charset="0"/>
                <a:ea typeface="Cambria" pitchFamily="34" charset="-122"/>
                <a:cs typeface="Cambria" pitchFamily="34" charset="-120"/>
              </a:rPr>
              <a:t>Every number comes from six supplied files</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11247120" cy="2179320"/>
        </p:xfrm>
        <a:graphic>
          <a:graphicData uri="http://schemas.openxmlformats.org/drawingml/2006/table">
            <a:tbl>
              <a:tblPr/>
              <a:tblGrid>
                <a:gridCol w="265176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5806440">
                  <a:extLst>
                    <a:ext uri="{9D8B030D-6E8A-4147-A177-3AD203B41FA5}">
                      <a16:colId xmlns:a16="http://schemas.microsoft.com/office/drawing/2014/main" val="20003"/>
                    </a:ext>
                  </a:extLst>
                </a:gridCol>
              </a:tblGrid>
              <a:tr h="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Supplied file</a:t>
                      </a:r>
                      <a:endParaRPr lang="en-US" sz="120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0E3B4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Data rows</a:t>
                      </a:r>
                      <a:endParaRPr lang="en-US" sz="120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0E3B4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Coverage</a:t>
                      </a:r>
                      <a:endParaRPr lang="en-US" sz="120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0E3B4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Air2Stay uses it for</a:t>
                      </a:r>
                      <a:endParaRPr lang="en-US" sz="120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0E3B4A"/>
                    </a:solidFill>
                  </a:tcPr>
                </a:tc>
                <a:extLst>
                  <a:ext uri="{0D108BD9-81ED-4DB2-BD59-A6C34878D82A}">
                    <a16:rowId xmlns:a16="http://schemas.microsoft.com/office/drawing/2014/main" val="10000"/>
                  </a:ext>
                </a:extLst>
              </a:tr>
              <a:tr h="0">
                <a:tc>
                  <a:txBody>
                    <a:bodyPr/>
                    <a:lstStyle/>
                    <a:p>
                      <a:pPr marL="0" indent="0">
                        <a:buNone/>
                      </a:pPr>
                      <a:r>
                        <a:rPr lang="en-US" sz="1200" dirty="0">
                          <a:solidFill>
                            <a:srgbClr val="1B2430"/>
                          </a:solidFill>
                          <a:latin typeface="Calibri" pitchFamily="34" charset="0"/>
                          <a:ea typeface="Calibri" pitchFamily="34" charset="-122"/>
                          <a:cs typeface="Calibri" pitchFamily="34" charset="-120"/>
                        </a:rPr>
                        <a:t>flight_data.xlsx</a:t>
                      </a:r>
                      <a:endParaRPr lang="en-US" sz="120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F5F8F9"/>
                    </a:solidFill>
                  </a:tcPr>
                </a:tc>
                <a:tc>
                  <a:txBody>
                    <a:bodyPr/>
                    <a:lstStyle/>
                    <a:p>
                      <a:pPr marL="0" indent="0">
                        <a:buNone/>
                      </a:pPr>
                      <a:r>
                        <a:rPr lang="en-US" sz="1200" dirty="0">
                          <a:solidFill>
                            <a:srgbClr val="1B2430"/>
                          </a:solidFill>
                          <a:latin typeface="Calibri" pitchFamily="34" charset="0"/>
                          <a:ea typeface="Calibri" pitchFamily="34" charset="-122"/>
                          <a:cs typeface="Calibri" pitchFamily="34" charset="-120"/>
                        </a:rPr>
                        <a:t>117,608</a:t>
                      </a:r>
                      <a:endParaRPr lang="en-US" sz="120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F5F8F9"/>
                    </a:solidFill>
                  </a:tcPr>
                </a:tc>
                <a:tc>
                  <a:txBody>
                    <a:bodyPr/>
                    <a:lstStyle/>
                    <a:p>
                      <a:pPr marL="0" indent="0">
                        <a:buNone/>
                      </a:pPr>
                      <a:r>
                        <a:rPr lang="en-US" sz="1200" dirty="0">
                          <a:solidFill>
                            <a:srgbClr val="1B2430"/>
                          </a:solidFill>
                          <a:latin typeface="Calibri" pitchFamily="34" charset="0"/>
                          <a:ea typeface="Calibri" pitchFamily="34" charset="-122"/>
                          <a:cs typeface="Calibri" pitchFamily="34" charset="-120"/>
                        </a:rPr>
                        <a:t>Jan 2022 – Feb 2026</a:t>
                      </a:r>
                      <a:endParaRPr lang="en-US" sz="120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F5F8F9"/>
                    </a:solidFill>
                  </a:tcPr>
                </a:tc>
                <a:tc>
                  <a:txBody>
                    <a:bodyPr/>
                    <a:lstStyle/>
                    <a:p>
                      <a:pPr marL="0" indent="0">
                        <a:buNone/>
                      </a:pPr>
                      <a:r>
                        <a:rPr lang="en-US" sz="1200" dirty="0">
                          <a:solidFill>
                            <a:srgbClr val="1B2430"/>
                          </a:solidFill>
                          <a:latin typeface="Calibri" pitchFamily="34" charset="0"/>
                          <a:ea typeface="Calibri" pitchFamily="34" charset="-122"/>
                          <a:cs typeface="Calibri" pitchFamily="34" charset="-120"/>
                        </a:rPr>
                        <a:t>Seats, PAX, P2P, transfer, transit, load factor, weekly frequency → 396 country-month route baselines</a:t>
                      </a:r>
                      <a:endParaRPr lang="en-US" sz="120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F5F8F9"/>
                    </a:solidFill>
                  </a:tcPr>
                </a:tc>
                <a:extLst>
                  <a:ext uri="{0D108BD9-81ED-4DB2-BD59-A6C34878D82A}">
                    <a16:rowId xmlns:a16="http://schemas.microsoft.com/office/drawing/2014/main" val="10001"/>
                  </a:ext>
                </a:extLst>
              </a:tr>
              <a:tr h="0">
                <a:tc>
                  <a:txBody>
                    <a:bodyPr/>
                    <a:lstStyle/>
                    <a:p>
                      <a:pPr marL="0" indent="0">
                        <a:buNone/>
                      </a:pPr>
                      <a:r>
                        <a:rPr lang="en-US" sz="1200" dirty="0">
                          <a:solidFill>
                            <a:srgbClr val="1B2430"/>
                          </a:solidFill>
                          <a:latin typeface="Calibri" pitchFamily="34" charset="0"/>
                          <a:ea typeface="Calibri" pitchFamily="34" charset="-122"/>
                          <a:cs typeface="Calibri" pitchFamily="34" charset="-120"/>
                        </a:rPr>
                        <a:t>data international_train.xlsx</a:t>
                      </a:r>
                      <a:endParaRPr lang="en-US" sz="120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FFFFFF"/>
                    </a:solidFill>
                  </a:tcPr>
                </a:tc>
                <a:tc>
                  <a:txBody>
                    <a:bodyPr/>
                    <a:lstStyle/>
                    <a:p>
                      <a:pPr marL="0" indent="0">
                        <a:buNone/>
                      </a:pPr>
                      <a:r>
                        <a:rPr lang="en-US" sz="1200" dirty="0">
                          <a:solidFill>
                            <a:srgbClr val="1B2430"/>
                          </a:solidFill>
                          <a:latin typeface="Calibri" pitchFamily="34" charset="0"/>
                          <a:ea typeface="Calibri" pitchFamily="34" charset="-122"/>
                          <a:cs typeface="Calibri" pitchFamily="34" charset="-120"/>
                        </a:rPr>
                        <a:t>58,622</a:t>
                      </a:r>
                      <a:endParaRPr lang="en-US" sz="120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FFFFFF"/>
                    </a:solidFill>
                  </a:tcPr>
                </a:tc>
                <a:tc>
                  <a:txBody>
                    <a:bodyPr/>
                    <a:lstStyle/>
                    <a:p>
                      <a:pPr marL="0" indent="0">
                        <a:buNone/>
                      </a:pPr>
                      <a:r>
                        <a:rPr lang="en-US" sz="1200" dirty="0">
                          <a:solidFill>
                            <a:srgbClr val="1B2430"/>
                          </a:solidFill>
                          <a:latin typeface="Calibri" pitchFamily="34" charset="0"/>
                          <a:ea typeface="Calibri" pitchFamily="34" charset="-122"/>
                          <a:cs typeface="Calibri" pitchFamily="34" charset="-120"/>
                        </a:rPr>
                        <a:t>Jan 2022 – Jul 2025</a:t>
                      </a:r>
                      <a:endParaRPr lang="en-US" sz="120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FFFFFF"/>
                    </a:solidFill>
                  </a:tcPr>
                </a:tc>
                <a:tc>
                  <a:txBody>
                    <a:bodyPr/>
                    <a:lstStyle/>
                    <a:p>
                      <a:pPr marL="0" indent="0">
                        <a:buNone/>
                      </a:pPr>
                      <a:r>
                        <a:rPr lang="en-US" sz="1200" dirty="0">
                          <a:solidFill>
                            <a:srgbClr val="1B2430"/>
                          </a:solidFill>
                          <a:latin typeface="Calibri" pitchFamily="34" charset="0"/>
                          <a:ea typeface="Calibri" pitchFamily="34" charset="-122"/>
                          <a:cs typeface="Calibri" pitchFamily="34" charset="-120"/>
                        </a:rPr>
                        <a:t>Daily New Arrivals, Guests, Same-Day Guests for 45 nationalities → check-ins, stays, bridge, validation</a:t>
                      </a:r>
                      <a:endParaRPr lang="en-US" sz="120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200" dirty="0">
                          <a:solidFill>
                            <a:srgbClr val="1B2430"/>
                          </a:solidFill>
                          <a:latin typeface="Calibri" pitchFamily="34" charset="0"/>
                          <a:ea typeface="Calibri" pitchFamily="34" charset="-122"/>
                          <a:cs typeface="Calibri" pitchFamily="34" charset="-120"/>
                        </a:rPr>
                        <a:t>data international_test.xlsx</a:t>
                      </a:r>
                      <a:endParaRPr lang="en-US" sz="120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F5F8F9"/>
                    </a:solidFill>
                  </a:tcPr>
                </a:tc>
                <a:tc>
                  <a:txBody>
                    <a:bodyPr/>
                    <a:lstStyle/>
                    <a:p>
                      <a:pPr marL="0" indent="0">
                        <a:buNone/>
                      </a:pPr>
                      <a:r>
                        <a:rPr lang="en-US" sz="1200" dirty="0">
                          <a:solidFill>
                            <a:srgbClr val="1B2430"/>
                          </a:solidFill>
                          <a:latin typeface="Calibri" pitchFamily="34" charset="0"/>
                          <a:ea typeface="Calibri" pitchFamily="34" charset="-122"/>
                          <a:cs typeface="Calibri" pitchFamily="34" charset="-120"/>
                        </a:rPr>
                        <a:t>9,202</a:t>
                      </a:r>
                      <a:endParaRPr lang="en-US" sz="120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F5F8F9"/>
                    </a:solidFill>
                  </a:tcPr>
                </a:tc>
                <a:tc>
                  <a:txBody>
                    <a:bodyPr/>
                    <a:lstStyle/>
                    <a:p>
                      <a:pPr marL="0" indent="0">
                        <a:buNone/>
                      </a:pPr>
                      <a:r>
                        <a:rPr lang="en-US" sz="1200" dirty="0">
                          <a:solidFill>
                            <a:srgbClr val="1B2430"/>
                          </a:solidFill>
                          <a:latin typeface="Calibri" pitchFamily="34" charset="0"/>
                          <a:ea typeface="Calibri" pitchFamily="34" charset="-122"/>
                          <a:cs typeface="Calibri" pitchFamily="34" charset="-120"/>
                        </a:rPr>
                        <a:t>Aug 2025 – Feb 2026</a:t>
                      </a:r>
                      <a:endParaRPr lang="en-US" sz="120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F5F8F9"/>
                    </a:solidFill>
                  </a:tcPr>
                </a:tc>
                <a:tc>
                  <a:txBody>
                    <a:bodyPr/>
                    <a:lstStyle/>
                    <a:p>
                      <a:pPr marL="0" indent="0">
                        <a:buNone/>
                      </a:pPr>
                      <a:r>
                        <a:rPr lang="en-US" sz="1200" dirty="0">
                          <a:solidFill>
                            <a:srgbClr val="1B2430"/>
                          </a:solidFill>
                          <a:latin typeface="Calibri" pitchFamily="34" charset="0"/>
                          <a:ea typeface="Calibri" pitchFamily="34" charset="-122"/>
                          <a:cs typeface="Calibri" pitchFamily="34" charset="-120"/>
                        </a:rPr>
                        <a:t>Future-style rows; Guests target intentionally missing</a:t>
                      </a:r>
                      <a:endParaRPr lang="en-US" sz="120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F5F8F9"/>
                    </a:solidFill>
                  </a:tcPr>
                </a:tc>
                <a:extLst>
                  <a:ext uri="{0D108BD9-81ED-4DB2-BD59-A6C34878D82A}">
                    <a16:rowId xmlns:a16="http://schemas.microsoft.com/office/drawing/2014/main" val="10003"/>
                  </a:ext>
                </a:extLst>
              </a:tr>
              <a:tr h="0">
                <a:tc>
                  <a:txBody>
                    <a:bodyPr/>
                    <a:lstStyle/>
                    <a:p>
                      <a:pPr marL="0" indent="0">
                        <a:buNone/>
                      </a:pPr>
                      <a:r>
                        <a:rPr lang="en-US" sz="1200" dirty="0">
                          <a:solidFill>
                            <a:srgbClr val="1B2430"/>
                          </a:solidFill>
                          <a:latin typeface="Calibri" pitchFamily="34" charset="0"/>
                          <a:ea typeface="Calibri" pitchFamily="34" charset="-122"/>
                          <a:cs typeface="Calibri" pitchFamily="34" charset="-120"/>
                        </a:rPr>
                        <a:t>data domestic_train.xlsx</a:t>
                      </a:r>
                      <a:endParaRPr lang="en-US" sz="120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FFFFFF"/>
                    </a:solidFill>
                  </a:tcPr>
                </a:tc>
                <a:tc>
                  <a:txBody>
                    <a:bodyPr/>
                    <a:lstStyle/>
                    <a:p>
                      <a:pPr marL="0" indent="0">
                        <a:buNone/>
                      </a:pPr>
                      <a:r>
                        <a:rPr lang="en-US" sz="1200" dirty="0">
                          <a:solidFill>
                            <a:srgbClr val="1B2430"/>
                          </a:solidFill>
                          <a:latin typeface="Calibri" pitchFamily="34" charset="0"/>
                          <a:ea typeface="Calibri" pitchFamily="34" charset="-122"/>
                          <a:cs typeface="Calibri" pitchFamily="34" charset="-120"/>
                        </a:rPr>
                        <a:t>1,308</a:t>
                      </a:r>
                      <a:endParaRPr lang="en-US" sz="120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FFFFFF"/>
                    </a:solidFill>
                  </a:tcPr>
                </a:tc>
                <a:tc>
                  <a:txBody>
                    <a:bodyPr/>
                    <a:lstStyle/>
                    <a:p>
                      <a:pPr marL="0" indent="0">
                        <a:buNone/>
                      </a:pPr>
                      <a:r>
                        <a:rPr lang="en-US" sz="1200" dirty="0">
                          <a:solidFill>
                            <a:srgbClr val="1B2430"/>
                          </a:solidFill>
                          <a:latin typeface="Calibri" pitchFamily="34" charset="0"/>
                          <a:ea typeface="Calibri" pitchFamily="34" charset="-122"/>
                          <a:cs typeface="Calibri" pitchFamily="34" charset="-120"/>
                        </a:rPr>
                        <a:t>Jan 2022 – Jul 2025</a:t>
                      </a:r>
                      <a:endParaRPr lang="en-US" sz="120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FFFFFF"/>
                    </a:solidFill>
                  </a:tcPr>
                </a:tc>
                <a:tc>
                  <a:txBody>
                    <a:bodyPr/>
                    <a:lstStyle/>
                    <a:p>
                      <a:pPr marL="0" indent="0">
                        <a:buNone/>
                      </a:pPr>
                      <a:r>
                        <a:rPr lang="en-US" sz="1200" dirty="0">
                          <a:solidFill>
                            <a:srgbClr val="1B2430"/>
                          </a:solidFill>
                          <a:latin typeface="Calibri" pitchFamily="34" charset="0"/>
                          <a:ea typeface="Calibri" pitchFamily="34" charset="-122"/>
                          <a:cs typeface="Calibri" pitchFamily="34" charset="-120"/>
                        </a:rPr>
                        <a:t>Separate domestic daily stay model</a:t>
                      </a:r>
                      <a:endParaRPr lang="en-US" sz="120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indent="0">
                        <a:buNone/>
                      </a:pPr>
                      <a:r>
                        <a:rPr lang="en-US" sz="1200" dirty="0">
                          <a:solidFill>
                            <a:srgbClr val="1B2430"/>
                          </a:solidFill>
                          <a:latin typeface="Calibri" pitchFamily="34" charset="0"/>
                          <a:ea typeface="Calibri" pitchFamily="34" charset="-122"/>
                          <a:cs typeface="Calibri" pitchFamily="34" charset="-120"/>
                        </a:rPr>
                        <a:t>data domestic_test.xlsx</a:t>
                      </a:r>
                      <a:endParaRPr lang="en-US" sz="120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F5F8F9"/>
                    </a:solidFill>
                  </a:tcPr>
                </a:tc>
                <a:tc>
                  <a:txBody>
                    <a:bodyPr/>
                    <a:lstStyle/>
                    <a:p>
                      <a:pPr marL="0" indent="0">
                        <a:buNone/>
                      </a:pPr>
                      <a:r>
                        <a:rPr lang="en-US" sz="1200" dirty="0">
                          <a:solidFill>
                            <a:srgbClr val="1B2430"/>
                          </a:solidFill>
                          <a:latin typeface="Calibri" pitchFamily="34" charset="0"/>
                          <a:ea typeface="Calibri" pitchFamily="34" charset="-122"/>
                          <a:cs typeface="Calibri" pitchFamily="34" charset="-120"/>
                        </a:rPr>
                        <a:t>212</a:t>
                      </a:r>
                      <a:endParaRPr lang="en-US" sz="120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F5F8F9"/>
                    </a:solidFill>
                  </a:tcPr>
                </a:tc>
                <a:tc>
                  <a:txBody>
                    <a:bodyPr/>
                    <a:lstStyle/>
                    <a:p>
                      <a:pPr marL="0" indent="0">
                        <a:buNone/>
                      </a:pPr>
                      <a:r>
                        <a:rPr lang="en-US" sz="1200" dirty="0">
                          <a:solidFill>
                            <a:srgbClr val="1B2430"/>
                          </a:solidFill>
                          <a:latin typeface="Calibri" pitchFamily="34" charset="0"/>
                          <a:ea typeface="Calibri" pitchFamily="34" charset="-122"/>
                          <a:cs typeface="Calibri" pitchFamily="34" charset="-120"/>
                        </a:rPr>
                        <a:t>Aug 2025 – Feb 2026</a:t>
                      </a:r>
                      <a:endParaRPr lang="en-US" sz="120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F5F8F9"/>
                    </a:solidFill>
                  </a:tcPr>
                </a:tc>
                <a:tc>
                  <a:txBody>
                    <a:bodyPr/>
                    <a:lstStyle/>
                    <a:p>
                      <a:pPr marL="0" indent="0">
                        <a:buNone/>
                      </a:pPr>
                      <a:r>
                        <a:rPr lang="en-US" sz="1200" dirty="0">
                          <a:solidFill>
                            <a:srgbClr val="1B2430"/>
                          </a:solidFill>
                          <a:latin typeface="Calibri" pitchFamily="34" charset="0"/>
                          <a:ea typeface="Calibri" pitchFamily="34" charset="-122"/>
                          <a:cs typeface="Calibri" pitchFamily="34" charset="-120"/>
                        </a:rPr>
                        <a:t>Domestic rows needing predicted Guests</a:t>
                      </a:r>
                      <a:endParaRPr lang="en-US" sz="120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F5F8F9"/>
                    </a:solidFill>
                  </a:tcPr>
                </a:tc>
                <a:extLst>
                  <a:ext uri="{0D108BD9-81ED-4DB2-BD59-A6C34878D82A}">
                    <a16:rowId xmlns:a16="http://schemas.microsoft.com/office/drawing/2014/main" val="10005"/>
                  </a:ext>
                </a:extLst>
              </a:tr>
              <a:tr h="0">
                <a:tc>
                  <a:txBody>
                    <a:bodyPr/>
                    <a:lstStyle/>
                    <a:p>
                      <a:pPr marL="0" indent="0">
                        <a:buNone/>
                      </a:pPr>
                      <a:r>
                        <a:rPr lang="en-US" sz="1200" dirty="0">
                          <a:solidFill>
                            <a:srgbClr val="1B2430"/>
                          </a:solidFill>
                          <a:latin typeface="Calibri" pitchFamily="34" charset="0"/>
                          <a:ea typeface="Calibri" pitchFamily="34" charset="-122"/>
                          <a:cs typeface="Calibri" pitchFamily="34" charset="-120"/>
                        </a:rPr>
                        <a:t>Data_Dictionary.pdf</a:t>
                      </a:r>
                      <a:endParaRPr lang="en-US" sz="120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FFFFFF"/>
                    </a:solidFill>
                  </a:tcPr>
                </a:tc>
                <a:tc>
                  <a:txBody>
                    <a:bodyPr/>
                    <a:lstStyle/>
                    <a:p>
                      <a:pPr marL="0" indent="0">
                        <a:buNone/>
                      </a:pPr>
                      <a:r>
                        <a:rPr lang="en-US" sz="1200" dirty="0">
                          <a:solidFill>
                            <a:srgbClr val="1B243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FFFFFF"/>
                    </a:solidFill>
                  </a:tcPr>
                </a:tc>
                <a:tc>
                  <a:txBody>
                    <a:bodyPr/>
                    <a:lstStyle/>
                    <a:p>
                      <a:pPr marL="0" indent="0">
                        <a:buNone/>
                      </a:pPr>
                      <a:r>
                        <a:rPr lang="en-US" sz="1200" dirty="0">
                          <a:solidFill>
                            <a:srgbClr val="1B2430"/>
                          </a:solidFill>
                          <a:latin typeface="Calibri" pitchFamily="34" charset="0"/>
                          <a:ea typeface="Calibri" pitchFamily="34" charset="-122"/>
                          <a:cs typeface="Calibri" pitchFamily="34" charset="-120"/>
                        </a:rPr>
                        <a:t>8 pages</a:t>
                      </a:r>
                      <a:endParaRPr lang="en-US" sz="120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FFFFFF"/>
                    </a:solidFill>
                  </a:tcPr>
                </a:tc>
                <a:tc>
                  <a:txBody>
                    <a:bodyPr/>
                    <a:lstStyle/>
                    <a:p>
                      <a:pPr marL="0" indent="0">
                        <a:buNone/>
                      </a:pPr>
                      <a:r>
                        <a:rPr lang="en-US" sz="1200" dirty="0">
                          <a:solidFill>
                            <a:srgbClr val="1B2430"/>
                          </a:solidFill>
                          <a:latin typeface="Calibri" pitchFamily="34" charset="0"/>
                          <a:ea typeface="Calibri" pitchFamily="34" charset="-122"/>
                          <a:cs typeface="Calibri" pitchFamily="34" charset="-120"/>
                        </a:rPr>
                        <a:t>Field definitions only; supplies no forecast values</a:t>
                      </a:r>
                      <a:endParaRPr lang="en-US" sz="120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3" name="def0"/>
          <p:cNvSpPr/>
          <p:nvPr/>
        </p:nvSpPr>
        <p:spPr>
          <a:xfrm>
            <a:off x="457200" y="3840480"/>
            <a:ext cx="2651760" cy="1280160"/>
          </a:xfrm>
          <a:prstGeom prst="roundRect">
            <a:avLst>
              <a:gd name="adj" fmla="val 5714"/>
            </a:avLst>
          </a:prstGeom>
          <a:solidFill>
            <a:srgbClr val="EEF2F4"/>
          </a:solidFill>
          <a:ln w="12700">
            <a:solidFill>
              <a:srgbClr val="EEF2F4"/>
            </a:solidFill>
            <a:prstDash val="solid"/>
          </a:ln>
        </p:spPr>
        <p:txBody>
          <a:bodyPr/>
          <a:lstStyle/>
          <a:p>
            <a:endParaRPr lang="en-AE"/>
          </a:p>
        </p:txBody>
      </p:sp>
      <p:sp>
        <p:nvSpPr>
          <p:cNvPr id="5" name="Text 2"/>
          <p:cNvSpPr txBox="1"/>
          <p:nvPr/>
        </p:nvSpPr>
        <p:spPr>
          <a:xfrm>
            <a:off x="640080" y="3977640"/>
            <a:ext cx="2286000" cy="320040"/>
          </a:xfrm>
          <a:prstGeom prst="rect">
            <a:avLst/>
          </a:prstGeom>
          <a:noFill/>
          <a:ln/>
        </p:spPr>
        <p:txBody>
          <a:bodyPr wrap="square" lIns="0" tIns="0" rIns="0" bIns="0" rtlCol="0" anchor="t"/>
          <a:lstStyle/>
          <a:p>
            <a:pPr marL="0" indent="0">
              <a:buNone/>
            </a:pPr>
            <a:r>
              <a:rPr lang="en-US" sz="1400" b="1" dirty="0">
                <a:solidFill>
                  <a:srgbClr val="0E7C86"/>
                </a:solidFill>
                <a:latin typeface="Calibri" pitchFamily="34" charset="0"/>
                <a:ea typeface="Calibri" pitchFamily="34" charset="-122"/>
                <a:cs typeface="Calibri" pitchFamily="34" charset="-120"/>
              </a:rPr>
              <a:t>Check-ins</a:t>
            </a:r>
            <a:endParaRPr lang="en-US" sz="1400" dirty="0"/>
          </a:p>
        </p:txBody>
      </p:sp>
      <p:sp>
        <p:nvSpPr>
          <p:cNvPr id="6" name="Text 3"/>
          <p:cNvSpPr txBox="1"/>
          <p:nvPr/>
        </p:nvSpPr>
        <p:spPr>
          <a:xfrm>
            <a:off x="640080" y="4325112"/>
            <a:ext cx="2331720" cy="822960"/>
          </a:xfrm>
          <a:prstGeom prst="rect">
            <a:avLst/>
          </a:prstGeom>
          <a:noFill/>
          <a:ln/>
        </p:spPr>
        <p:txBody>
          <a:bodyPr wrap="square" lIns="0" tIns="0" rIns="0" bIns="0" rtlCol="0" anchor="t"/>
          <a:lstStyle/>
          <a:p>
            <a:pPr marL="0" indent="0">
              <a:buNone/>
            </a:pPr>
            <a:r>
              <a:rPr lang="en-US" sz="1200" dirty="0">
                <a:solidFill>
                  <a:srgbClr val="1B2430"/>
                </a:solidFill>
                <a:latin typeface="Calibri" pitchFamily="34" charset="0"/>
                <a:ea typeface="Calibri" pitchFamily="34" charset="-122"/>
                <a:cs typeface="Calibri" pitchFamily="34" charset="-120"/>
              </a:rPr>
              <a:t>Hotel New Arrivals (column C)</a:t>
            </a:r>
            <a:endParaRPr lang="en-US" sz="1200" dirty="0"/>
          </a:p>
        </p:txBody>
      </p:sp>
      <p:sp>
        <p:nvSpPr>
          <p:cNvPr id="7" name="def1"/>
          <p:cNvSpPr/>
          <p:nvPr/>
        </p:nvSpPr>
        <p:spPr>
          <a:xfrm>
            <a:off x="3291840" y="3840480"/>
            <a:ext cx="2651760" cy="1280160"/>
          </a:xfrm>
          <a:prstGeom prst="roundRect">
            <a:avLst>
              <a:gd name="adj" fmla="val 5714"/>
            </a:avLst>
          </a:prstGeom>
          <a:solidFill>
            <a:srgbClr val="EEF2F4"/>
          </a:solidFill>
          <a:ln w="12700">
            <a:solidFill>
              <a:srgbClr val="EEF2F4"/>
            </a:solidFill>
            <a:prstDash val="solid"/>
          </a:ln>
        </p:spPr>
        <p:txBody>
          <a:bodyPr/>
          <a:lstStyle/>
          <a:p>
            <a:endParaRPr lang="en-AE"/>
          </a:p>
        </p:txBody>
      </p:sp>
      <p:sp>
        <p:nvSpPr>
          <p:cNvPr id="8" name="Text 5"/>
          <p:cNvSpPr txBox="1"/>
          <p:nvPr/>
        </p:nvSpPr>
        <p:spPr>
          <a:xfrm>
            <a:off x="3474720" y="3977640"/>
            <a:ext cx="2286000" cy="320040"/>
          </a:xfrm>
          <a:prstGeom prst="rect">
            <a:avLst/>
          </a:prstGeom>
          <a:noFill/>
          <a:ln/>
        </p:spPr>
        <p:txBody>
          <a:bodyPr wrap="square" lIns="0" tIns="0" rIns="0" bIns="0" rtlCol="0" anchor="t"/>
          <a:lstStyle/>
          <a:p>
            <a:pPr marL="0" indent="0">
              <a:buNone/>
            </a:pPr>
            <a:r>
              <a:rPr lang="en-US" sz="1400" b="1" dirty="0">
                <a:solidFill>
                  <a:srgbClr val="0E7C86"/>
                </a:solidFill>
                <a:latin typeface="Calibri" pitchFamily="34" charset="0"/>
                <a:ea typeface="Calibri" pitchFamily="34" charset="-122"/>
                <a:cs typeface="Calibri" pitchFamily="34" charset="-120"/>
              </a:rPr>
              <a:t>Guest nights</a:t>
            </a:r>
            <a:endParaRPr lang="en-US" sz="1400" dirty="0"/>
          </a:p>
        </p:txBody>
      </p:sp>
      <p:sp>
        <p:nvSpPr>
          <p:cNvPr id="9" name="Text 6"/>
          <p:cNvSpPr txBox="1"/>
          <p:nvPr/>
        </p:nvSpPr>
        <p:spPr>
          <a:xfrm>
            <a:off x="3474720" y="4325112"/>
            <a:ext cx="2331720" cy="822960"/>
          </a:xfrm>
          <a:prstGeom prst="rect">
            <a:avLst/>
          </a:prstGeom>
          <a:noFill/>
          <a:ln/>
        </p:spPr>
        <p:txBody>
          <a:bodyPr wrap="square" lIns="0" tIns="0" rIns="0" bIns="0" rtlCol="0" anchor="t"/>
          <a:lstStyle/>
          <a:p>
            <a:pPr marL="0" indent="0">
              <a:buNone/>
            </a:pPr>
            <a:r>
              <a:rPr lang="en-US" sz="1200" dirty="0">
                <a:solidFill>
                  <a:srgbClr val="1B2430"/>
                </a:solidFill>
                <a:latin typeface="Calibri" pitchFamily="34" charset="0"/>
                <a:ea typeface="Calibri" pitchFamily="34" charset="-122"/>
                <a:cs typeface="Calibri" pitchFamily="34" charset="-120"/>
              </a:rPr>
              <a:t>Sum of daily Guests: one person over 3 nights counts 3 times</a:t>
            </a:r>
            <a:endParaRPr lang="en-US" sz="1200" dirty="0"/>
          </a:p>
        </p:txBody>
      </p:sp>
      <p:sp>
        <p:nvSpPr>
          <p:cNvPr id="10" name="def2"/>
          <p:cNvSpPr/>
          <p:nvPr/>
        </p:nvSpPr>
        <p:spPr>
          <a:xfrm>
            <a:off x="6126480" y="3840480"/>
            <a:ext cx="2651760" cy="1280160"/>
          </a:xfrm>
          <a:prstGeom prst="roundRect">
            <a:avLst>
              <a:gd name="adj" fmla="val 5714"/>
            </a:avLst>
          </a:prstGeom>
          <a:solidFill>
            <a:srgbClr val="EEF2F4"/>
          </a:solidFill>
          <a:ln w="12700">
            <a:solidFill>
              <a:srgbClr val="EEF2F4"/>
            </a:solidFill>
            <a:prstDash val="solid"/>
          </a:ln>
        </p:spPr>
        <p:txBody>
          <a:bodyPr/>
          <a:lstStyle/>
          <a:p>
            <a:endParaRPr lang="en-AE"/>
          </a:p>
        </p:txBody>
      </p:sp>
      <p:sp>
        <p:nvSpPr>
          <p:cNvPr id="11" name="Text 8"/>
          <p:cNvSpPr txBox="1"/>
          <p:nvPr/>
        </p:nvSpPr>
        <p:spPr>
          <a:xfrm>
            <a:off x="6309360" y="3977640"/>
            <a:ext cx="2286000" cy="320040"/>
          </a:xfrm>
          <a:prstGeom prst="rect">
            <a:avLst/>
          </a:prstGeom>
          <a:noFill/>
          <a:ln/>
        </p:spPr>
        <p:txBody>
          <a:bodyPr wrap="square" lIns="0" tIns="0" rIns="0" bIns="0" rtlCol="0" anchor="t"/>
          <a:lstStyle/>
          <a:p>
            <a:pPr marL="0" indent="0">
              <a:buNone/>
            </a:pPr>
            <a:r>
              <a:rPr lang="en-US" sz="1400" b="1" dirty="0">
                <a:solidFill>
                  <a:srgbClr val="0E7C86"/>
                </a:solidFill>
                <a:latin typeface="Calibri" pitchFamily="34" charset="0"/>
                <a:ea typeface="Calibri" pitchFamily="34" charset="-122"/>
                <a:cs typeface="Calibri" pitchFamily="34" charset="-120"/>
              </a:rPr>
              <a:t>Average stay</a:t>
            </a:r>
            <a:endParaRPr lang="en-US" sz="1400" dirty="0"/>
          </a:p>
        </p:txBody>
      </p:sp>
      <p:sp>
        <p:nvSpPr>
          <p:cNvPr id="12" name="Text 9"/>
          <p:cNvSpPr txBox="1"/>
          <p:nvPr/>
        </p:nvSpPr>
        <p:spPr>
          <a:xfrm>
            <a:off x="6309360" y="4325112"/>
            <a:ext cx="2331720" cy="822960"/>
          </a:xfrm>
          <a:prstGeom prst="rect">
            <a:avLst/>
          </a:prstGeom>
          <a:noFill/>
          <a:ln/>
        </p:spPr>
        <p:txBody>
          <a:bodyPr wrap="square" lIns="0" tIns="0" rIns="0" bIns="0" rtlCol="0" anchor="t"/>
          <a:lstStyle/>
          <a:p>
            <a:pPr marL="0" indent="0">
              <a:buNone/>
            </a:pPr>
            <a:r>
              <a:rPr lang="en-US" sz="1200" dirty="0">
                <a:solidFill>
                  <a:srgbClr val="1B2430"/>
                </a:solidFill>
                <a:latin typeface="Calibri" pitchFamily="34" charset="0"/>
                <a:ea typeface="Calibri" pitchFamily="34" charset="-122"/>
                <a:cs typeface="Calibri" pitchFamily="34" charset="-120"/>
              </a:rPr>
              <a:t>Total Guests ÷ total New Arrivals</a:t>
            </a:r>
            <a:endParaRPr lang="en-US" sz="1200" dirty="0"/>
          </a:p>
        </p:txBody>
      </p:sp>
      <p:sp>
        <p:nvSpPr>
          <p:cNvPr id="13" name="def3"/>
          <p:cNvSpPr/>
          <p:nvPr/>
        </p:nvSpPr>
        <p:spPr>
          <a:xfrm>
            <a:off x="8961120" y="3840480"/>
            <a:ext cx="2651760" cy="1280160"/>
          </a:xfrm>
          <a:prstGeom prst="roundRect">
            <a:avLst>
              <a:gd name="adj" fmla="val 5714"/>
            </a:avLst>
          </a:prstGeom>
          <a:solidFill>
            <a:srgbClr val="EEF2F4"/>
          </a:solidFill>
          <a:ln w="12700">
            <a:solidFill>
              <a:srgbClr val="EEF2F4"/>
            </a:solidFill>
            <a:prstDash val="solid"/>
          </a:ln>
        </p:spPr>
        <p:txBody>
          <a:bodyPr/>
          <a:lstStyle/>
          <a:p>
            <a:endParaRPr lang="en-AE"/>
          </a:p>
        </p:txBody>
      </p:sp>
      <p:sp>
        <p:nvSpPr>
          <p:cNvPr id="14" name="Text 11"/>
          <p:cNvSpPr txBox="1"/>
          <p:nvPr/>
        </p:nvSpPr>
        <p:spPr>
          <a:xfrm>
            <a:off x="9144000" y="3977640"/>
            <a:ext cx="2286000" cy="320040"/>
          </a:xfrm>
          <a:prstGeom prst="rect">
            <a:avLst/>
          </a:prstGeom>
          <a:noFill/>
          <a:ln/>
        </p:spPr>
        <p:txBody>
          <a:bodyPr wrap="square" lIns="0" tIns="0" rIns="0" bIns="0" rtlCol="0" anchor="t"/>
          <a:lstStyle/>
          <a:p>
            <a:pPr marL="0" indent="0">
              <a:buNone/>
            </a:pPr>
            <a:r>
              <a:rPr lang="en-US" sz="1400" b="1" dirty="0">
                <a:solidFill>
                  <a:srgbClr val="0E7C86"/>
                </a:solidFill>
                <a:latin typeface="Calibri" pitchFamily="34" charset="0"/>
                <a:ea typeface="Calibri" pitchFamily="34" charset="-122"/>
                <a:cs typeface="Calibri" pitchFamily="34" charset="-120"/>
              </a:rPr>
              <a:t>Common grain</a:t>
            </a:r>
            <a:endParaRPr lang="en-US" sz="1400" dirty="0"/>
          </a:p>
        </p:txBody>
      </p:sp>
      <p:sp>
        <p:nvSpPr>
          <p:cNvPr id="15" name="Text 12"/>
          <p:cNvSpPr txBox="1"/>
          <p:nvPr/>
        </p:nvSpPr>
        <p:spPr>
          <a:xfrm>
            <a:off x="9144000" y="4325112"/>
            <a:ext cx="2331720" cy="822960"/>
          </a:xfrm>
          <a:prstGeom prst="rect">
            <a:avLst/>
          </a:prstGeom>
          <a:noFill/>
          <a:ln/>
        </p:spPr>
        <p:txBody>
          <a:bodyPr wrap="square" lIns="0" tIns="0" rIns="0" bIns="0" rtlCol="0" anchor="t"/>
          <a:lstStyle/>
          <a:p>
            <a:pPr marL="0" indent="0">
              <a:buNone/>
            </a:pPr>
            <a:r>
              <a:rPr lang="en-US" sz="1200" dirty="0">
                <a:solidFill>
                  <a:srgbClr val="1B2430"/>
                </a:solidFill>
                <a:latin typeface="Calibri" pitchFamily="34" charset="0"/>
                <a:ea typeface="Calibri" pitchFamily="34" charset="-122"/>
                <a:cs typeface="Calibri" pitchFamily="34" charset="-120"/>
              </a:rPr>
              <a:t>2022 flights are monthly, later years daily, so everything is aggregated to month</a:t>
            </a:r>
            <a:endParaRPr lang="en-US" sz="1200" dirty="0"/>
          </a:p>
        </p:txBody>
      </p:sp>
      <p:sp>
        <p:nvSpPr>
          <p:cNvPr id="16" name="Text 13"/>
          <p:cNvSpPr txBox="1"/>
          <p:nvPr/>
        </p:nvSpPr>
        <p:spPr>
          <a:xfrm>
            <a:off x="457200" y="5257800"/>
            <a:ext cx="11247120" cy="502920"/>
          </a:xfrm>
          <a:prstGeom prst="rect">
            <a:avLst/>
          </a:prstGeom>
          <a:noFill/>
          <a:ln/>
        </p:spPr>
        <p:txBody>
          <a:bodyPr wrap="square" lIns="0" tIns="0" rIns="0" bIns="0" rtlCol="0" anchor="t"/>
          <a:lstStyle/>
          <a:p>
            <a:pPr marL="0" indent="0">
              <a:buNone/>
            </a:pPr>
            <a:r>
              <a:rPr lang="en-US" sz="1200" dirty="0">
                <a:solidFill>
                  <a:srgbClr val="5B6B7A"/>
                </a:solidFill>
                <a:latin typeface="Calibri" pitchFamily="34" charset="0"/>
                <a:ea typeface="Calibri" pitchFamily="34" charset="-122"/>
                <a:cs typeface="Calibri" pitchFamily="34" charset="-120"/>
              </a:rPr>
              <a:t>The DCT challenge web page supplied the business problem and success criteria, not data. Flight columns used: A Date, B Departure Country, F Avg Weekly Frequency, M Load Factor, N Total P2P, O Total PAX, Q Total Seats, R Transfer, S Transit.</a:t>
            </a:r>
            <a:endParaRPr lang="en-US" sz="1200" dirty="0"/>
          </a:p>
        </p:txBody>
      </p:sp>
      <p:sp>
        <p:nvSpPr>
          <p:cNvPr id="17" name="Text 14"/>
          <p:cNvSpPr txBox="1"/>
          <p:nvPr/>
        </p:nvSpPr>
        <p:spPr>
          <a:xfrm>
            <a:off x="457200" y="5806440"/>
            <a:ext cx="11247120" cy="502920"/>
          </a:xfrm>
          <a:prstGeom prst="rect">
            <a:avLst/>
          </a:prstGeom>
          <a:noFill/>
          <a:ln/>
        </p:spPr>
        <p:txBody>
          <a:bodyPr wrap="square" lIns="0" tIns="0" rIns="0" bIns="0" rtlCol="0" anchor="t"/>
          <a:lstStyle/>
          <a:p>
            <a:pPr marL="0" indent="0">
              <a:buNone/>
            </a:pPr>
            <a:r>
              <a:rPr lang="en-US" sz="1200" b="1" dirty="0">
                <a:solidFill>
                  <a:srgbClr val="1B2430"/>
                </a:solidFill>
                <a:latin typeface="Calibri" pitchFamily="34" charset="0"/>
                <a:ea typeface="Calibri" pitchFamily="34" charset="-122"/>
                <a:cs typeface="Calibri" pitchFamily="34" charset="-120"/>
              </a:rPr>
              <a:t>Route baselines per country × month: </a:t>
            </a:r>
            <a:r>
              <a:rPr lang="en-US" sz="1200" dirty="0">
                <a:solidFill>
                  <a:srgbClr val="1B2430"/>
                </a:solidFill>
                <a:latin typeface="Calibri" pitchFamily="34" charset="0"/>
                <a:ea typeface="Calibri" pitchFamily="34" charset="-122"/>
                <a:cs typeface="Calibri" pitchFamily="34" charset="-120"/>
              </a:rPr>
              <a:t>load factor = PAX ÷ seats; P2P share = P2P ÷ PAX; weeks = days ÷ 7; seats per flight = seats ÷ (weekly frequency × weeks); hotel conversion = New Arrivals ÷ P2P (training months, month-calibrated).</a:t>
            </a:r>
            <a:endParaRPr lang="en-US" sz="12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7A"/>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11247120" cy="685800"/>
          </a:xfrm>
          <a:prstGeom prst="rect">
            <a:avLst/>
          </a:prstGeom>
          <a:noFill/>
          <a:ln/>
        </p:spPr>
        <p:txBody>
          <a:bodyPr wrap="square" lIns="0" tIns="0" rIns="0" bIns="0" rtlCol="0" anchor="ctr"/>
          <a:lstStyle/>
          <a:p>
            <a:pPr marL="0" indent="0" algn="l">
              <a:buNone/>
            </a:pPr>
            <a:r>
              <a:rPr lang="en-US" sz="2800" b="1" dirty="0">
                <a:solidFill>
                  <a:srgbClr val="0E3B4A"/>
                </a:solidFill>
                <a:latin typeface="Cambria" pitchFamily="34" charset="0"/>
                <a:ea typeface="Cambria" pitchFamily="34" charset="-122"/>
                <a:cs typeface="Cambria" pitchFamily="34" charset="-120"/>
              </a:rPr>
              <a:t>A five-step chain turns airline seats into hotel guest nights</a:t>
            </a:r>
            <a:endParaRPr lang="en-US" sz="2800" dirty="0"/>
          </a:p>
        </p:txBody>
      </p:sp>
      <p:sp>
        <p:nvSpPr>
          <p:cNvPr id="3" name="step0"/>
          <p:cNvSpPr/>
          <p:nvPr/>
        </p:nvSpPr>
        <p:spPr>
          <a:xfrm>
            <a:off x="457200" y="1143000"/>
            <a:ext cx="2103120" cy="1600200"/>
          </a:xfrm>
          <a:prstGeom prst="roundRect">
            <a:avLst>
              <a:gd name="adj" fmla="val 4571"/>
            </a:avLst>
          </a:prstGeom>
          <a:solidFill>
            <a:srgbClr val="EEF2F4"/>
          </a:solidFill>
          <a:ln w="12700">
            <a:solidFill>
              <a:srgbClr val="EEF2F4"/>
            </a:solidFill>
            <a:prstDash val="solid"/>
          </a:ln>
        </p:spPr>
        <p:txBody>
          <a:bodyPr/>
          <a:lstStyle/>
          <a:p>
            <a:endParaRPr lang="en-AE"/>
          </a:p>
        </p:txBody>
      </p:sp>
      <p:sp>
        <p:nvSpPr>
          <p:cNvPr id="4" name="Text 2"/>
          <p:cNvSpPr txBox="1"/>
          <p:nvPr/>
        </p:nvSpPr>
        <p:spPr>
          <a:xfrm>
            <a:off x="621792" y="1234440"/>
            <a:ext cx="365760" cy="320040"/>
          </a:xfrm>
          <a:prstGeom prst="rect">
            <a:avLst/>
          </a:prstGeom>
          <a:noFill/>
          <a:ln/>
        </p:spPr>
        <p:txBody>
          <a:bodyPr wrap="square" lIns="0" tIns="0" rIns="0" bIns="0" rtlCol="0" anchor="t"/>
          <a:lstStyle/>
          <a:p>
            <a:pPr marL="0" indent="0">
              <a:buNone/>
            </a:pPr>
            <a:r>
              <a:rPr lang="en-US" sz="1400" b="1" dirty="0">
                <a:solidFill>
                  <a:srgbClr val="D4A03A"/>
                </a:solidFill>
                <a:latin typeface="Calibri" pitchFamily="34" charset="0"/>
                <a:ea typeface="Calibri" pitchFamily="34" charset="-122"/>
                <a:cs typeface="Calibri" pitchFamily="34" charset="-120"/>
              </a:rPr>
              <a:t>1</a:t>
            </a:r>
            <a:endParaRPr lang="en-US" sz="1400" dirty="0"/>
          </a:p>
        </p:txBody>
      </p:sp>
      <p:sp>
        <p:nvSpPr>
          <p:cNvPr id="5" name="Text 3"/>
          <p:cNvSpPr txBox="1"/>
          <p:nvPr/>
        </p:nvSpPr>
        <p:spPr>
          <a:xfrm>
            <a:off x="621792" y="1536192"/>
            <a:ext cx="1828800" cy="274320"/>
          </a:xfrm>
          <a:prstGeom prst="rect">
            <a:avLst/>
          </a:prstGeom>
          <a:noFill/>
          <a:ln/>
        </p:spPr>
        <p:txBody>
          <a:bodyPr wrap="square" lIns="0" tIns="0" rIns="0" bIns="0" rtlCol="0" anchor="t"/>
          <a:lstStyle/>
          <a:p>
            <a:pPr marL="0" indent="0">
              <a:buNone/>
            </a:pPr>
            <a:r>
              <a:rPr lang="en-US" sz="1400" b="1" dirty="0">
                <a:solidFill>
                  <a:srgbClr val="0E3B4A"/>
                </a:solidFill>
                <a:latin typeface="Calibri" pitchFamily="34" charset="0"/>
                <a:ea typeface="Calibri" pitchFamily="34" charset="-122"/>
                <a:cs typeface="Calibri" pitchFamily="34" charset="-120"/>
              </a:rPr>
              <a:t>Scheduled seats</a:t>
            </a:r>
            <a:endParaRPr lang="en-US" sz="1400" dirty="0"/>
          </a:p>
        </p:txBody>
      </p:sp>
      <p:sp>
        <p:nvSpPr>
          <p:cNvPr id="6" name="Text 4"/>
          <p:cNvSpPr txBox="1"/>
          <p:nvPr/>
        </p:nvSpPr>
        <p:spPr>
          <a:xfrm>
            <a:off x="621792" y="1828800"/>
            <a:ext cx="1828800" cy="457200"/>
          </a:xfrm>
          <a:prstGeom prst="rect">
            <a:avLst/>
          </a:prstGeom>
          <a:noFill/>
          <a:ln/>
        </p:spPr>
        <p:txBody>
          <a:bodyPr wrap="square" lIns="0" tIns="0" rIns="0" bIns="0" rtlCol="0" anchor="t"/>
          <a:lstStyle/>
          <a:p>
            <a:pPr marL="0" indent="0">
              <a:buNone/>
            </a:pPr>
            <a:r>
              <a:rPr lang="en-US" sz="1100" dirty="0">
                <a:solidFill>
                  <a:srgbClr val="1B2430"/>
                </a:solidFill>
                <a:latin typeface="Calibri" pitchFamily="34" charset="0"/>
                <a:ea typeface="Calibri" pitchFamily="34" charset="-122"/>
                <a:cs typeface="Calibri" pitchFamily="34" charset="-120"/>
              </a:rPr>
              <a:t>baseline + extra flights × seats × weeks</a:t>
            </a:r>
            <a:endParaRPr lang="en-US" sz="1100" dirty="0"/>
          </a:p>
        </p:txBody>
      </p:sp>
      <p:sp>
        <p:nvSpPr>
          <p:cNvPr id="7" name="Text 5"/>
          <p:cNvSpPr txBox="1"/>
          <p:nvPr/>
        </p:nvSpPr>
        <p:spPr>
          <a:xfrm>
            <a:off x="621792" y="2267712"/>
            <a:ext cx="1828800" cy="411480"/>
          </a:xfrm>
          <a:prstGeom prst="rect">
            <a:avLst/>
          </a:prstGeom>
          <a:noFill/>
          <a:ln/>
        </p:spPr>
        <p:txBody>
          <a:bodyPr wrap="square" lIns="0" tIns="0" rIns="0" bIns="0" rtlCol="0" anchor="t"/>
          <a:lstStyle/>
          <a:p>
            <a:pPr marL="0" indent="0">
              <a:buNone/>
            </a:pPr>
            <a:r>
              <a:rPr lang="en-US" sz="2000" b="1" dirty="0">
                <a:solidFill>
                  <a:srgbClr val="0E7C86"/>
                </a:solidFill>
                <a:latin typeface="Cambria" pitchFamily="34" charset="0"/>
                <a:ea typeface="Cambria" pitchFamily="34" charset="-122"/>
                <a:cs typeface="Cambria" pitchFamily="34" charset="-120"/>
              </a:rPr>
              <a:t>298,700</a:t>
            </a:r>
            <a:endParaRPr lang="en-US" sz="2000" dirty="0"/>
          </a:p>
        </p:txBody>
      </p:sp>
      <p:sp>
        <p:nvSpPr>
          <p:cNvPr id="8" name="Shape 6"/>
          <p:cNvSpPr/>
          <p:nvPr/>
        </p:nvSpPr>
        <p:spPr>
          <a:xfrm>
            <a:off x="2587752" y="1828800"/>
            <a:ext cx="128016" cy="228600"/>
          </a:xfrm>
          <a:prstGeom prst="chevron">
            <a:avLst/>
          </a:prstGeom>
          <a:solidFill>
            <a:srgbClr val="D4A03A"/>
          </a:solidFill>
          <a:ln w="12700">
            <a:solidFill>
              <a:srgbClr val="D4A03A"/>
            </a:solidFill>
            <a:prstDash val="solid"/>
          </a:ln>
        </p:spPr>
        <p:txBody>
          <a:bodyPr/>
          <a:lstStyle/>
          <a:p>
            <a:endParaRPr lang="en-AE"/>
          </a:p>
        </p:txBody>
      </p:sp>
      <p:sp>
        <p:nvSpPr>
          <p:cNvPr id="9" name="step1"/>
          <p:cNvSpPr/>
          <p:nvPr/>
        </p:nvSpPr>
        <p:spPr>
          <a:xfrm>
            <a:off x="2743200" y="1143000"/>
            <a:ext cx="2103120" cy="1600200"/>
          </a:xfrm>
          <a:prstGeom prst="roundRect">
            <a:avLst>
              <a:gd name="adj" fmla="val 4571"/>
            </a:avLst>
          </a:prstGeom>
          <a:solidFill>
            <a:srgbClr val="EEF2F4"/>
          </a:solidFill>
          <a:ln w="12700">
            <a:solidFill>
              <a:srgbClr val="EEF2F4"/>
            </a:solidFill>
            <a:prstDash val="solid"/>
          </a:ln>
        </p:spPr>
        <p:txBody>
          <a:bodyPr/>
          <a:lstStyle/>
          <a:p>
            <a:endParaRPr lang="en-AE"/>
          </a:p>
        </p:txBody>
      </p:sp>
      <p:sp>
        <p:nvSpPr>
          <p:cNvPr id="10" name="Text 8"/>
          <p:cNvSpPr txBox="1"/>
          <p:nvPr/>
        </p:nvSpPr>
        <p:spPr>
          <a:xfrm>
            <a:off x="2907792" y="1234440"/>
            <a:ext cx="365760" cy="320040"/>
          </a:xfrm>
          <a:prstGeom prst="rect">
            <a:avLst/>
          </a:prstGeom>
          <a:noFill/>
          <a:ln/>
        </p:spPr>
        <p:txBody>
          <a:bodyPr wrap="square" lIns="0" tIns="0" rIns="0" bIns="0" rtlCol="0" anchor="t"/>
          <a:lstStyle/>
          <a:p>
            <a:pPr marL="0" indent="0">
              <a:buNone/>
            </a:pPr>
            <a:r>
              <a:rPr lang="en-US" sz="1400" b="1" dirty="0">
                <a:solidFill>
                  <a:srgbClr val="D4A03A"/>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2907792" y="1536192"/>
            <a:ext cx="1828800" cy="274320"/>
          </a:xfrm>
          <a:prstGeom prst="rect">
            <a:avLst/>
          </a:prstGeom>
          <a:noFill/>
          <a:ln/>
        </p:spPr>
        <p:txBody>
          <a:bodyPr wrap="square" lIns="0" tIns="0" rIns="0" bIns="0" rtlCol="0" anchor="t"/>
          <a:lstStyle/>
          <a:p>
            <a:pPr marL="0" indent="0">
              <a:buNone/>
            </a:pPr>
            <a:r>
              <a:rPr lang="en-US" sz="1400" b="1" dirty="0">
                <a:solidFill>
                  <a:srgbClr val="0E3B4A"/>
                </a:solidFill>
                <a:latin typeface="Calibri" pitchFamily="34" charset="0"/>
                <a:ea typeface="Calibri" pitchFamily="34" charset="-122"/>
                <a:cs typeface="Calibri" pitchFamily="34" charset="-120"/>
              </a:rPr>
              <a:t>Passengers</a:t>
            </a:r>
            <a:endParaRPr lang="en-US" sz="1400" dirty="0"/>
          </a:p>
        </p:txBody>
      </p:sp>
      <p:sp>
        <p:nvSpPr>
          <p:cNvPr id="12" name="Text 10"/>
          <p:cNvSpPr txBox="1"/>
          <p:nvPr/>
        </p:nvSpPr>
        <p:spPr>
          <a:xfrm>
            <a:off x="2907792" y="1828800"/>
            <a:ext cx="1828800" cy="457200"/>
          </a:xfrm>
          <a:prstGeom prst="rect">
            <a:avLst/>
          </a:prstGeom>
          <a:noFill/>
          <a:ln/>
        </p:spPr>
        <p:txBody>
          <a:bodyPr wrap="square" lIns="0" tIns="0" rIns="0" bIns="0" rtlCol="0" anchor="t"/>
          <a:lstStyle/>
          <a:p>
            <a:pPr marL="0" indent="0">
              <a:buNone/>
            </a:pPr>
            <a:r>
              <a:rPr lang="en-US" sz="1100" dirty="0">
                <a:solidFill>
                  <a:srgbClr val="1B2430"/>
                </a:solidFill>
                <a:latin typeface="Calibri" pitchFamily="34" charset="0"/>
                <a:ea typeface="Calibri" pitchFamily="34" charset="-122"/>
                <a:cs typeface="Calibri" pitchFamily="34" charset="-120"/>
              </a:rPr>
              <a:t>seats × load factor (88.1%)</a:t>
            </a:r>
            <a:endParaRPr lang="en-US" sz="1100" dirty="0"/>
          </a:p>
        </p:txBody>
      </p:sp>
      <p:sp>
        <p:nvSpPr>
          <p:cNvPr id="13" name="Text 11"/>
          <p:cNvSpPr txBox="1"/>
          <p:nvPr/>
        </p:nvSpPr>
        <p:spPr>
          <a:xfrm>
            <a:off x="2907792" y="2267712"/>
            <a:ext cx="1828800" cy="411480"/>
          </a:xfrm>
          <a:prstGeom prst="rect">
            <a:avLst/>
          </a:prstGeom>
          <a:noFill/>
          <a:ln/>
        </p:spPr>
        <p:txBody>
          <a:bodyPr wrap="square" lIns="0" tIns="0" rIns="0" bIns="0" rtlCol="0" anchor="t"/>
          <a:lstStyle/>
          <a:p>
            <a:pPr marL="0" indent="0">
              <a:buNone/>
            </a:pPr>
            <a:r>
              <a:rPr lang="en-US" sz="2000" b="1" dirty="0">
                <a:solidFill>
                  <a:srgbClr val="0E7C86"/>
                </a:solidFill>
                <a:latin typeface="Cambria" pitchFamily="34" charset="0"/>
                <a:ea typeface="Cambria" pitchFamily="34" charset="-122"/>
                <a:cs typeface="Cambria" pitchFamily="34" charset="-120"/>
              </a:rPr>
              <a:t>263,155</a:t>
            </a:r>
            <a:endParaRPr lang="en-US" sz="2000" dirty="0"/>
          </a:p>
        </p:txBody>
      </p:sp>
      <p:sp>
        <p:nvSpPr>
          <p:cNvPr id="14" name="Shape 12"/>
          <p:cNvSpPr/>
          <p:nvPr/>
        </p:nvSpPr>
        <p:spPr>
          <a:xfrm>
            <a:off x="4873752" y="1828800"/>
            <a:ext cx="128016" cy="228600"/>
          </a:xfrm>
          <a:prstGeom prst="chevron">
            <a:avLst/>
          </a:prstGeom>
          <a:solidFill>
            <a:srgbClr val="D4A03A"/>
          </a:solidFill>
          <a:ln w="12700">
            <a:solidFill>
              <a:srgbClr val="D4A03A"/>
            </a:solidFill>
            <a:prstDash val="solid"/>
          </a:ln>
        </p:spPr>
        <p:txBody>
          <a:bodyPr/>
          <a:lstStyle/>
          <a:p>
            <a:endParaRPr lang="en-AE"/>
          </a:p>
        </p:txBody>
      </p:sp>
      <p:sp>
        <p:nvSpPr>
          <p:cNvPr id="15" name="step2"/>
          <p:cNvSpPr/>
          <p:nvPr/>
        </p:nvSpPr>
        <p:spPr>
          <a:xfrm>
            <a:off x="5029200" y="1143000"/>
            <a:ext cx="2103120" cy="1600200"/>
          </a:xfrm>
          <a:prstGeom prst="roundRect">
            <a:avLst>
              <a:gd name="adj" fmla="val 4571"/>
            </a:avLst>
          </a:prstGeom>
          <a:solidFill>
            <a:srgbClr val="EEF2F4"/>
          </a:solidFill>
          <a:ln w="12700">
            <a:solidFill>
              <a:srgbClr val="EEF2F4"/>
            </a:solidFill>
            <a:prstDash val="solid"/>
          </a:ln>
        </p:spPr>
        <p:txBody>
          <a:bodyPr/>
          <a:lstStyle/>
          <a:p>
            <a:endParaRPr lang="en-AE"/>
          </a:p>
        </p:txBody>
      </p:sp>
      <p:sp>
        <p:nvSpPr>
          <p:cNvPr id="16" name="Text 14"/>
          <p:cNvSpPr txBox="1"/>
          <p:nvPr/>
        </p:nvSpPr>
        <p:spPr>
          <a:xfrm>
            <a:off x="5193792" y="1234440"/>
            <a:ext cx="365760" cy="320040"/>
          </a:xfrm>
          <a:prstGeom prst="rect">
            <a:avLst/>
          </a:prstGeom>
          <a:noFill/>
          <a:ln/>
        </p:spPr>
        <p:txBody>
          <a:bodyPr wrap="square" lIns="0" tIns="0" rIns="0" bIns="0" rtlCol="0" anchor="t"/>
          <a:lstStyle/>
          <a:p>
            <a:pPr marL="0" indent="0">
              <a:buNone/>
            </a:pPr>
            <a:r>
              <a:rPr lang="en-US" sz="1400" b="1" dirty="0">
                <a:solidFill>
                  <a:srgbClr val="D4A03A"/>
                </a:solidFill>
                <a:latin typeface="Calibri" pitchFamily="34" charset="0"/>
                <a:ea typeface="Calibri" pitchFamily="34" charset="-122"/>
                <a:cs typeface="Calibri" pitchFamily="34" charset="-120"/>
              </a:rPr>
              <a:t>3</a:t>
            </a:r>
            <a:endParaRPr lang="en-US" sz="1400" dirty="0"/>
          </a:p>
        </p:txBody>
      </p:sp>
      <p:sp>
        <p:nvSpPr>
          <p:cNvPr id="17" name="Text 15"/>
          <p:cNvSpPr txBox="1"/>
          <p:nvPr/>
        </p:nvSpPr>
        <p:spPr>
          <a:xfrm>
            <a:off x="5193792" y="1536192"/>
            <a:ext cx="1828800" cy="274320"/>
          </a:xfrm>
          <a:prstGeom prst="rect">
            <a:avLst/>
          </a:prstGeom>
          <a:noFill/>
          <a:ln/>
        </p:spPr>
        <p:txBody>
          <a:bodyPr wrap="square" lIns="0" tIns="0" rIns="0" bIns="0" rtlCol="0" anchor="t"/>
          <a:lstStyle/>
          <a:p>
            <a:pPr marL="0" indent="0">
              <a:buNone/>
            </a:pPr>
            <a:r>
              <a:rPr lang="en-US" sz="1400" b="1" dirty="0">
                <a:solidFill>
                  <a:srgbClr val="0E3B4A"/>
                </a:solidFill>
                <a:latin typeface="Calibri" pitchFamily="34" charset="0"/>
                <a:ea typeface="Calibri" pitchFamily="34" charset="-122"/>
                <a:cs typeface="Calibri" pitchFamily="34" charset="-120"/>
              </a:rPr>
              <a:t>P2P visitors</a:t>
            </a:r>
            <a:endParaRPr lang="en-US" sz="1400" dirty="0"/>
          </a:p>
        </p:txBody>
      </p:sp>
      <p:sp>
        <p:nvSpPr>
          <p:cNvPr id="18" name="Text 16"/>
          <p:cNvSpPr txBox="1"/>
          <p:nvPr/>
        </p:nvSpPr>
        <p:spPr>
          <a:xfrm>
            <a:off x="5193792" y="1828800"/>
            <a:ext cx="1828800" cy="457200"/>
          </a:xfrm>
          <a:prstGeom prst="rect">
            <a:avLst/>
          </a:prstGeom>
          <a:noFill/>
          <a:ln/>
        </p:spPr>
        <p:txBody>
          <a:bodyPr wrap="square" lIns="0" tIns="0" rIns="0" bIns="0" rtlCol="0" anchor="t"/>
          <a:lstStyle/>
          <a:p>
            <a:pPr marL="0" indent="0">
              <a:buNone/>
            </a:pPr>
            <a:r>
              <a:rPr lang="en-US" sz="1100" dirty="0">
                <a:solidFill>
                  <a:srgbClr val="1B2430"/>
                </a:solidFill>
                <a:latin typeface="Calibri" pitchFamily="34" charset="0"/>
                <a:ea typeface="Calibri" pitchFamily="34" charset="-122"/>
                <a:cs typeface="Calibri" pitchFamily="34" charset="-120"/>
              </a:rPr>
              <a:t>passengers × P2P share (65.4%)</a:t>
            </a:r>
            <a:endParaRPr lang="en-US" sz="1100" dirty="0"/>
          </a:p>
        </p:txBody>
      </p:sp>
      <p:sp>
        <p:nvSpPr>
          <p:cNvPr id="19" name="Text 17"/>
          <p:cNvSpPr txBox="1"/>
          <p:nvPr/>
        </p:nvSpPr>
        <p:spPr>
          <a:xfrm>
            <a:off x="5193792" y="2267712"/>
            <a:ext cx="1828800" cy="411480"/>
          </a:xfrm>
          <a:prstGeom prst="rect">
            <a:avLst/>
          </a:prstGeom>
          <a:noFill/>
          <a:ln/>
        </p:spPr>
        <p:txBody>
          <a:bodyPr wrap="square" lIns="0" tIns="0" rIns="0" bIns="0" rtlCol="0" anchor="t"/>
          <a:lstStyle/>
          <a:p>
            <a:pPr marL="0" indent="0">
              <a:buNone/>
            </a:pPr>
            <a:r>
              <a:rPr lang="en-US" sz="2000" b="1" dirty="0">
                <a:solidFill>
                  <a:srgbClr val="0E7C86"/>
                </a:solidFill>
                <a:latin typeface="Cambria" pitchFamily="34" charset="0"/>
                <a:ea typeface="Cambria" pitchFamily="34" charset="-122"/>
                <a:cs typeface="Cambria" pitchFamily="34" charset="-120"/>
              </a:rPr>
              <a:t>172,103</a:t>
            </a:r>
            <a:endParaRPr lang="en-US" sz="2000" dirty="0"/>
          </a:p>
        </p:txBody>
      </p:sp>
      <p:sp>
        <p:nvSpPr>
          <p:cNvPr id="20" name="Shape 18"/>
          <p:cNvSpPr/>
          <p:nvPr/>
        </p:nvSpPr>
        <p:spPr>
          <a:xfrm>
            <a:off x="7159752" y="1828800"/>
            <a:ext cx="128016" cy="228600"/>
          </a:xfrm>
          <a:prstGeom prst="chevron">
            <a:avLst/>
          </a:prstGeom>
          <a:solidFill>
            <a:srgbClr val="D4A03A"/>
          </a:solidFill>
          <a:ln w="12700">
            <a:solidFill>
              <a:srgbClr val="D4A03A"/>
            </a:solidFill>
            <a:prstDash val="solid"/>
          </a:ln>
        </p:spPr>
        <p:txBody>
          <a:bodyPr/>
          <a:lstStyle/>
          <a:p>
            <a:endParaRPr lang="en-AE"/>
          </a:p>
        </p:txBody>
      </p:sp>
      <p:sp>
        <p:nvSpPr>
          <p:cNvPr id="21" name="step3"/>
          <p:cNvSpPr/>
          <p:nvPr/>
        </p:nvSpPr>
        <p:spPr>
          <a:xfrm>
            <a:off x="7315200" y="1143000"/>
            <a:ext cx="2103120" cy="1600200"/>
          </a:xfrm>
          <a:prstGeom prst="roundRect">
            <a:avLst>
              <a:gd name="adj" fmla="val 4571"/>
            </a:avLst>
          </a:prstGeom>
          <a:solidFill>
            <a:srgbClr val="EEF2F4"/>
          </a:solidFill>
          <a:ln w="12700">
            <a:solidFill>
              <a:srgbClr val="EEF2F4"/>
            </a:solidFill>
            <a:prstDash val="solid"/>
          </a:ln>
        </p:spPr>
        <p:txBody>
          <a:bodyPr/>
          <a:lstStyle/>
          <a:p>
            <a:endParaRPr lang="en-AE"/>
          </a:p>
        </p:txBody>
      </p:sp>
      <p:sp>
        <p:nvSpPr>
          <p:cNvPr id="22" name="Text 20"/>
          <p:cNvSpPr txBox="1"/>
          <p:nvPr/>
        </p:nvSpPr>
        <p:spPr>
          <a:xfrm>
            <a:off x="7479792" y="1234440"/>
            <a:ext cx="365760" cy="320040"/>
          </a:xfrm>
          <a:prstGeom prst="rect">
            <a:avLst/>
          </a:prstGeom>
          <a:noFill/>
          <a:ln/>
        </p:spPr>
        <p:txBody>
          <a:bodyPr wrap="square" lIns="0" tIns="0" rIns="0" bIns="0" rtlCol="0" anchor="t"/>
          <a:lstStyle/>
          <a:p>
            <a:pPr marL="0" indent="0">
              <a:buNone/>
            </a:pPr>
            <a:r>
              <a:rPr lang="en-US" sz="1400" b="1" dirty="0">
                <a:solidFill>
                  <a:srgbClr val="D4A03A"/>
                </a:solidFill>
                <a:latin typeface="Calibri" pitchFamily="34" charset="0"/>
                <a:ea typeface="Calibri" pitchFamily="34" charset="-122"/>
                <a:cs typeface="Calibri" pitchFamily="34" charset="-120"/>
              </a:rPr>
              <a:t>4</a:t>
            </a:r>
            <a:endParaRPr lang="en-US" sz="1400" dirty="0"/>
          </a:p>
        </p:txBody>
      </p:sp>
      <p:sp>
        <p:nvSpPr>
          <p:cNvPr id="23" name="Text 21"/>
          <p:cNvSpPr txBox="1"/>
          <p:nvPr/>
        </p:nvSpPr>
        <p:spPr>
          <a:xfrm>
            <a:off x="7479792" y="1536192"/>
            <a:ext cx="1828800" cy="274320"/>
          </a:xfrm>
          <a:prstGeom prst="rect">
            <a:avLst/>
          </a:prstGeom>
          <a:noFill/>
          <a:ln/>
        </p:spPr>
        <p:txBody>
          <a:bodyPr wrap="square" lIns="0" tIns="0" rIns="0" bIns="0" rtlCol="0" anchor="t"/>
          <a:lstStyle/>
          <a:p>
            <a:pPr marL="0" indent="0">
              <a:buNone/>
            </a:pPr>
            <a:r>
              <a:rPr lang="en-US" sz="1400" b="1" dirty="0">
                <a:solidFill>
                  <a:srgbClr val="0E3B4A"/>
                </a:solidFill>
                <a:latin typeface="Calibri" pitchFamily="34" charset="0"/>
                <a:ea typeface="Calibri" pitchFamily="34" charset="-122"/>
                <a:cs typeface="Calibri" pitchFamily="34" charset="-120"/>
              </a:rPr>
              <a:t>Hotel check-ins</a:t>
            </a:r>
            <a:endParaRPr lang="en-US" sz="1400" dirty="0"/>
          </a:p>
        </p:txBody>
      </p:sp>
      <p:sp>
        <p:nvSpPr>
          <p:cNvPr id="24" name="Text 22"/>
          <p:cNvSpPr txBox="1"/>
          <p:nvPr/>
        </p:nvSpPr>
        <p:spPr>
          <a:xfrm>
            <a:off x="7479792" y="1828800"/>
            <a:ext cx="1828800" cy="457200"/>
          </a:xfrm>
          <a:prstGeom prst="rect">
            <a:avLst/>
          </a:prstGeom>
          <a:noFill/>
          <a:ln/>
        </p:spPr>
        <p:txBody>
          <a:bodyPr wrap="square" lIns="0" tIns="0" rIns="0" bIns="0" rtlCol="0" anchor="t"/>
          <a:lstStyle/>
          <a:p>
            <a:pPr marL="0" indent="0">
              <a:buNone/>
            </a:pPr>
            <a:r>
              <a:rPr lang="en-US" sz="1100" dirty="0">
                <a:solidFill>
                  <a:srgbClr val="1B2430"/>
                </a:solidFill>
                <a:latin typeface="Calibri" pitchFamily="34" charset="0"/>
                <a:ea typeface="Calibri" pitchFamily="34" charset="-122"/>
                <a:cs typeface="Calibri" pitchFamily="34" charset="-120"/>
              </a:rPr>
              <a:t>P2P × hotel conversion (42.5%)</a:t>
            </a:r>
            <a:endParaRPr lang="en-US" sz="1100" dirty="0"/>
          </a:p>
        </p:txBody>
      </p:sp>
      <p:sp>
        <p:nvSpPr>
          <p:cNvPr id="25" name="Text 23"/>
          <p:cNvSpPr txBox="1"/>
          <p:nvPr/>
        </p:nvSpPr>
        <p:spPr>
          <a:xfrm>
            <a:off x="7479792" y="2267712"/>
            <a:ext cx="1828800" cy="411480"/>
          </a:xfrm>
          <a:prstGeom prst="rect">
            <a:avLst/>
          </a:prstGeom>
          <a:noFill/>
          <a:ln/>
        </p:spPr>
        <p:txBody>
          <a:bodyPr wrap="square" lIns="0" tIns="0" rIns="0" bIns="0" rtlCol="0" anchor="t"/>
          <a:lstStyle/>
          <a:p>
            <a:pPr marL="0" indent="0">
              <a:buNone/>
            </a:pPr>
            <a:r>
              <a:rPr lang="en-US" sz="2000" b="1" dirty="0">
                <a:solidFill>
                  <a:srgbClr val="0E7C86"/>
                </a:solidFill>
                <a:latin typeface="Cambria" pitchFamily="34" charset="0"/>
                <a:ea typeface="Cambria" pitchFamily="34" charset="-122"/>
                <a:cs typeface="Cambria" pitchFamily="34" charset="-120"/>
              </a:rPr>
              <a:t>73,144</a:t>
            </a:r>
            <a:endParaRPr lang="en-US" sz="2000" dirty="0"/>
          </a:p>
        </p:txBody>
      </p:sp>
      <p:sp>
        <p:nvSpPr>
          <p:cNvPr id="26" name="Shape 24"/>
          <p:cNvSpPr/>
          <p:nvPr/>
        </p:nvSpPr>
        <p:spPr>
          <a:xfrm>
            <a:off x="9445752" y="1828800"/>
            <a:ext cx="128016" cy="228600"/>
          </a:xfrm>
          <a:prstGeom prst="chevron">
            <a:avLst/>
          </a:prstGeom>
          <a:solidFill>
            <a:srgbClr val="D4A03A"/>
          </a:solidFill>
          <a:ln w="12700">
            <a:solidFill>
              <a:srgbClr val="D4A03A"/>
            </a:solidFill>
            <a:prstDash val="solid"/>
          </a:ln>
        </p:spPr>
        <p:txBody>
          <a:bodyPr/>
          <a:lstStyle/>
          <a:p>
            <a:endParaRPr lang="en-AE"/>
          </a:p>
        </p:txBody>
      </p:sp>
      <p:sp>
        <p:nvSpPr>
          <p:cNvPr id="27" name="step4"/>
          <p:cNvSpPr/>
          <p:nvPr/>
        </p:nvSpPr>
        <p:spPr>
          <a:xfrm>
            <a:off x="9601200" y="1143000"/>
            <a:ext cx="2103120" cy="1600200"/>
          </a:xfrm>
          <a:prstGeom prst="roundRect">
            <a:avLst>
              <a:gd name="adj" fmla="val 4571"/>
            </a:avLst>
          </a:prstGeom>
          <a:solidFill>
            <a:srgbClr val="E3F1F2"/>
          </a:solidFill>
          <a:ln w="12700">
            <a:solidFill>
              <a:srgbClr val="E3F1F2"/>
            </a:solidFill>
            <a:prstDash val="solid"/>
          </a:ln>
        </p:spPr>
        <p:txBody>
          <a:bodyPr/>
          <a:lstStyle/>
          <a:p>
            <a:endParaRPr lang="en-AE"/>
          </a:p>
        </p:txBody>
      </p:sp>
      <p:sp>
        <p:nvSpPr>
          <p:cNvPr id="28" name="Text 26"/>
          <p:cNvSpPr txBox="1"/>
          <p:nvPr/>
        </p:nvSpPr>
        <p:spPr>
          <a:xfrm>
            <a:off x="9765792" y="1234440"/>
            <a:ext cx="365760" cy="320040"/>
          </a:xfrm>
          <a:prstGeom prst="rect">
            <a:avLst/>
          </a:prstGeom>
          <a:noFill/>
          <a:ln/>
        </p:spPr>
        <p:txBody>
          <a:bodyPr wrap="square" lIns="0" tIns="0" rIns="0" bIns="0" rtlCol="0" anchor="t"/>
          <a:lstStyle/>
          <a:p>
            <a:pPr marL="0" indent="0">
              <a:buNone/>
            </a:pPr>
            <a:r>
              <a:rPr lang="en-US" sz="1400" b="1" dirty="0">
                <a:solidFill>
                  <a:srgbClr val="D4A03A"/>
                </a:solidFill>
                <a:latin typeface="Calibri" pitchFamily="34" charset="0"/>
                <a:ea typeface="Calibri" pitchFamily="34" charset="-122"/>
                <a:cs typeface="Calibri" pitchFamily="34" charset="-120"/>
              </a:rPr>
              <a:t>5</a:t>
            </a:r>
            <a:endParaRPr lang="en-US" sz="1400" dirty="0"/>
          </a:p>
        </p:txBody>
      </p:sp>
      <p:sp>
        <p:nvSpPr>
          <p:cNvPr id="29" name="Text 27"/>
          <p:cNvSpPr txBox="1"/>
          <p:nvPr/>
        </p:nvSpPr>
        <p:spPr>
          <a:xfrm>
            <a:off x="9765792" y="1536192"/>
            <a:ext cx="1828800" cy="274320"/>
          </a:xfrm>
          <a:prstGeom prst="rect">
            <a:avLst/>
          </a:prstGeom>
          <a:noFill/>
          <a:ln/>
        </p:spPr>
        <p:txBody>
          <a:bodyPr wrap="square" lIns="0" tIns="0" rIns="0" bIns="0" rtlCol="0" anchor="t"/>
          <a:lstStyle/>
          <a:p>
            <a:pPr marL="0" indent="0">
              <a:buNone/>
            </a:pPr>
            <a:r>
              <a:rPr lang="en-US" sz="1400" b="1" dirty="0">
                <a:solidFill>
                  <a:srgbClr val="0E3B4A"/>
                </a:solidFill>
                <a:latin typeface="Calibri" pitchFamily="34" charset="0"/>
                <a:ea typeface="Calibri" pitchFamily="34" charset="-122"/>
                <a:cs typeface="Calibri" pitchFamily="34" charset="-120"/>
              </a:rPr>
              <a:t>Guest nights</a:t>
            </a:r>
            <a:endParaRPr lang="en-US" sz="1400" dirty="0"/>
          </a:p>
        </p:txBody>
      </p:sp>
      <p:sp>
        <p:nvSpPr>
          <p:cNvPr id="30" name="Text 28"/>
          <p:cNvSpPr txBox="1"/>
          <p:nvPr/>
        </p:nvSpPr>
        <p:spPr>
          <a:xfrm>
            <a:off x="9765792" y="1828800"/>
            <a:ext cx="1828800" cy="457200"/>
          </a:xfrm>
          <a:prstGeom prst="rect">
            <a:avLst/>
          </a:prstGeom>
          <a:noFill/>
          <a:ln/>
        </p:spPr>
        <p:txBody>
          <a:bodyPr wrap="square" lIns="0" tIns="0" rIns="0" bIns="0" rtlCol="0" anchor="t"/>
          <a:lstStyle/>
          <a:p>
            <a:pPr marL="0" indent="0">
              <a:buNone/>
            </a:pPr>
            <a:r>
              <a:rPr lang="en-US" sz="1100" dirty="0">
                <a:solidFill>
                  <a:srgbClr val="1B2430"/>
                </a:solidFill>
                <a:latin typeface="Calibri" pitchFamily="34" charset="0"/>
                <a:ea typeface="Calibri" pitchFamily="34" charset="-122"/>
                <a:cs typeface="Calibri" pitchFamily="34" charset="-120"/>
              </a:rPr>
              <a:t>check-ins × average stay (3.32)</a:t>
            </a:r>
            <a:endParaRPr lang="en-US" sz="1100" dirty="0"/>
          </a:p>
        </p:txBody>
      </p:sp>
      <p:sp>
        <p:nvSpPr>
          <p:cNvPr id="31" name="Text 29"/>
          <p:cNvSpPr txBox="1"/>
          <p:nvPr/>
        </p:nvSpPr>
        <p:spPr>
          <a:xfrm>
            <a:off x="9765792" y="2267712"/>
            <a:ext cx="1828800" cy="411480"/>
          </a:xfrm>
          <a:prstGeom prst="rect">
            <a:avLst/>
          </a:prstGeom>
          <a:noFill/>
          <a:ln/>
        </p:spPr>
        <p:txBody>
          <a:bodyPr wrap="square" lIns="0" tIns="0" rIns="0" bIns="0" rtlCol="0" anchor="t"/>
          <a:lstStyle/>
          <a:p>
            <a:pPr marL="0" indent="0">
              <a:buNone/>
            </a:pPr>
            <a:r>
              <a:rPr lang="en-US" sz="2000" b="1" dirty="0">
                <a:solidFill>
                  <a:srgbClr val="0E7C86"/>
                </a:solidFill>
                <a:latin typeface="Cambria" pitchFamily="34" charset="0"/>
                <a:ea typeface="Cambria" pitchFamily="34" charset="-122"/>
                <a:cs typeface="Cambria" pitchFamily="34" charset="-120"/>
              </a:rPr>
              <a:t>242,838</a:t>
            </a:r>
            <a:endParaRPr lang="en-US" sz="2000" dirty="0"/>
          </a:p>
        </p:txBody>
      </p:sp>
      <p:sp>
        <p:nvSpPr>
          <p:cNvPr id="32" name="Text 30"/>
          <p:cNvSpPr txBox="1"/>
          <p:nvPr/>
        </p:nvSpPr>
        <p:spPr>
          <a:xfrm>
            <a:off x="457200" y="2971800"/>
            <a:ext cx="5486400" cy="274320"/>
          </a:xfrm>
          <a:prstGeom prst="rect">
            <a:avLst/>
          </a:prstGeom>
          <a:noFill/>
          <a:ln/>
        </p:spPr>
        <p:txBody>
          <a:bodyPr wrap="square" lIns="0" tIns="0" rIns="0" bIns="0" rtlCol="0" anchor="t"/>
          <a:lstStyle/>
          <a:p>
            <a:pPr marL="0" indent="0">
              <a:buNone/>
            </a:pPr>
            <a:r>
              <a:rPr lang="en-US" sz="1100" b="1" kern="0" spc="100" dirty="0">
                <a:solidFill>
                  <a:srgbClr val="0E7C86"/>
                </a:solidFill>
                <a:latin typeface="Calibri" pitchFamily="34" charset="0"/>
                <a:ea typeface="Calibri" pitchFamily="34" charset="-122"/>
                <a:cs typeface="Calibri" pitchFamily="34" charset="-120"/>
              </a:rPr>
              <a:t>INDIA, DECEMBER: BASELINE VS. SCENARIO</a:t>
            </a:r>
            <a:endParaRPr lang="en-US" sz="11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5760720" cy="914400"/>
        </p:xfrm>
        <a:graphic>
          <a:graphicData uri="http://schemas.openxmlformats.org/drawingml/2006/table">
            <a:tbl>
              <a:tblPr/>
              <a:tblGrid>
                <a:gridCol w="192024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tblGrid>
              <a:tr h="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Output</a:t>
                      </a:r>
                      <a:endParaRPr lang="en-US" sz="120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0E3B4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Baseline</a:t>
                      </a:r>
                      <a:endParaRPr lang="en-US" sz="120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0E3B4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Scenario</a:t>
                      </a:r>
                      <a:endParaRPr lang="en-US" sz="120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0E3B4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Change</a:t>
                      </a:r>
                      <a:endParaRPr lang="en-US" sz="120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0E3B4A"/>
                    </a:solidFill>
                  </a:tcPr>
                </a:tc>
                <a:extLst>
                  <a:ext uri="{0D108BD9-81ED-4DB2-BD59-A6C34878D82A}">
                    <a16:rowId xmlns:a16="http://schemas.microsoft.com/office/drawing/2014/main" val="10000"/>
                  </a:ext>
                </a:extLst>
              </a:tr>
              <a:tr h="0">
                <a:tc>
                  <a:txBody>
                    <a:bodyPr/>
                    <a:lstStyle/>
                    <a:p>
                      <a:pPr marL="0" indent="0" algn="l">
                        <a:buNone/>
                      </a:pPr>
                      <a:r>
                        <a:rPr lang="en-US" sz="1200" dirty="0">
                          <a:solidFill>
                            <a:srgbClr val="1B2430"/>
                          </a:solidFill>
                          <a:latin typeface="Calibri" pitchFamily="34" charset="0"/>
                          <a:ea typeface="Calibri" pitchFamily="34" charset="-122"/>
                          <a:cs typeface="Calibri" pitchFamily="34" charset="-120"/>
                        </a:rPr>
                        <a:t>Scheduled seats</a:t>
                      </a:r>
                      <a:endParaRPr lang="en-US" sz="120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F5F8F9"/>
                    </a:solidFill>
                  </a:tcPr>
                </a:tc>
                <a:tc>
                  <a:txBody>
                    <a:bodyPr/>
                    <a:lstStyle/>
                    <a:p>
                      <a:pPr marL="0" indent="0" algn="l">
                        <a:buNone/>
                      </a:pPr>
                      <a:r>
                        <a:rPr lang="en-US" sz="1200" dirty="0">
                          <a:solidFill>
                            <a:srgbClr val="1B2430"/>
                          </a:solidFill>
                          <a:latin typeface="Calibri" pitchFamily="34" charset="0"/>
                          <a:ea typeface="Calibri" pitchFamily="34" charset="-122"/>
                          <a:cs typeface="Calibri" pitchFamily="34" charset="-120"/>
                        </a:rPr>
                        <a:t>296,096</a:t>
                      </a:r>
                      <a:endParaRPr lang="en-US" sz="120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F5F8F9"/>
                    </a:solidFill>
                  </a:tcPr>
                </a:tc>
                <a:tc>
                  <a:txBody>
                    <a:bodyPr/>
                    <a:lstStyle/>
                    <a:p>
                      <a:pPr marL="0" indent="0" algn="l">
                        <a:buNone/>
                      </a:pPr>
                      <a:r>
                        <a:rPr lang="en-US" sz="1200" dirty="0">
                          <a:solidFill>
                            <a:srgbClr val="1B2430"/>
                          </a:solidFill>
                          <a:latin typeface="Calibri" pitchFamily="34" charset="0"/>
                          <a:ea typeface="Calibri" pitchFamily="34" charset="-122"/>
                          <a:cs typeface="Calibri" pitchFamily="34" charset="-120"/>
                        </a:rPr>
                        <a:t>298,700</a:t>
                      </a:r>
                      <a:endParaRPr lang="en-US" sz="120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F5F8F9"/>
                    </a:solidFill>
                  </a:tcPr>
                </a:tc>
                <a:tc>
                  <a:txBody>
                    <a:bodyPr/>
                    <a:lstStyle/>
                    <a:p>
                      <a:pPr marL="0" indent="0" algn="l">
                        <a:buNone/>
                      </a:pPr>
                      <a:r>
                        <a:rPr lang="en-US" sz="1200" dirty="0">
                          <a:solidFill>
                            <a:srgbClr val="1B2430"/>
                          </a:solidFill>
                          <a:latin typeface="Calibri" pitchFamily="34" charset="0"/>
                          <a:ea typeface="Calibri" pitchFamily="34" charset="-122"/>
                          <a:cs typeface="Calibri" pitchFamily="34" charset="-120"/>
                        </a:rPr>
                        <a:t>+2,604</a:t>
                      </a:r>
                      <a:endParaRPr lang="en-US" sz="120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F5F8F9"/>
                    </a:solidFill>
                  </a:tcPr>
                </a:tc>
                <a:extLst>
                  <a:ext uri="{0D108BD9-81ED-4DB2-BD59-A6C34878D82A}">
                    <a16:rowId xmlns:a16="http://schemas.microsoft.com/office/drawing/2014/main" val="10001"/>
                  </a:ext>
                </a:extLst>
              </a:tr>
              <a:tr h="0">
                <a:tc>
                  <a:txBody>
                    <a:bodyPr/>
                    <a:lstStyle/>
                    <a:p>
                      <a:pPr marL="0" indent="0" algn="l">
                        <a:buNone/>
                      </a:pPr>
                      <a:r>
                        <a:rPr lang="en-US" sz="1200" dirty="0">
                          <a:solidFill>
                            <a:srgbClr val="1B2430"/>
                          </a:solidFill>
                          <a:latin typeface="Calibri" pitchFamily="34" charset="0"/>
                          <a:ea typeface="Calibri" pitchFamily="34" charset="-122"/>
                          <a:cs typeface="Calibri" pitchFamily="34" charset="-120"/>
                        </a:rPr>
                        <a:t>Passengers</a:t>
                      </a:r>
                      <a:endParaRPr lang="en-US" sz="120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430"/>
                          </a:solidFill>
                          <a:latin typeface="Calibri" pitchFamily="34" charset="0"/>
                          <a:ea typeface="Calibri" pitchFamily="34" charset="-122"/>
                          <a:cs typeface="Calibri" pitchFamily="34" charset="-120"/>
                        </a:rPr>
                        <a:t>260,890</a:t>
                      </a:r>
                      <a:endParaRPr lang="en-US" sz="120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430"/>
                          </a:solidFill>
                          <a:latin typeface="Calibri" pitchFamily="34" charset="0"/>
                          <a:ea typeface="Calibri" pitchFamily="34" charset="-122"/>
                          <a:cs typeface="Calibri" pitchFamily="34" charset="-120"/>
                        </a:rPr>
                        <a:t>263,155</a:t>
                      </a:r>
                      <a:endParaRPr lang="en-US" sz="120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430"/>
                          </a:solidFill>
                          <a:latin typeface="Calibri" pitchFamily="34" charset="0"/>
                          <a:ea typeface="Calibri" pitchFamily="34" charset="-122"/>
                          <a:cs typeface="Calibri" pitchFamily="34" charset="-120"/>
                        </a:rPr>
                        <a:t>+2,265</a:t>
                      </a:r>
                      <a:endParaRPr lang="en-US" sz="120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lgn="l">
                        <a:buNone/>
                      </a:pPr>
                      <a:r>
                        <a:rPr lang="en-US" sz="1200" dirty="0">
                          <a:solidFill>
                            <a:srgbClr val="1B2430"/>
                          </a:solidFill>
                          <a:latin typeface="Calibri" pitchFamily="34" charset="0"/>
                          <a:ea typeface="Calibri" pitchFamily="34" charset="-122"/>
                          <a:cs typeface="Calibri" pitchFamily="34" charset="-120"/>
                        </a:rPr>
                        <a:t>P2P visitors</a:t>
                      </a:r>
                      <a:endParaRPr lang="en-US" sz="120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F5F8F9"/>
                    </a:solidFill>
                  </a:tcPr>
                </a:tc>
                <a:tc>
                  <a:txBody>
                    <a:bodyPr/>
                    <a:lstStyle/>
                    <a:p>
                      <a:pPr marL="0" indent="0" algn="l">
                        <a:buNone/>
                      </a:pPr>
                      <a:r>
                        <a:rPr lang="en-US" sz="1200" dirty="0">
                          <a:solidFill>
                            <a:srgbClr val="1B2430"/>
                          </a:solidFill>
                          <a:latin typeface="Calibri" pitchFamily="34" charset="0"/>
                          <a:ea typeface="Calibri" pitchFamily="34" charset="-122"/>
                          <a:cs typeface="Calibri" pitchFamily="34" charset="-120"/>
                        </a:rPr>
                        <a:t>170,544</a:t>
                      </a:r>
                      <a:endParaRPr lang="en-US" sz="120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F5F8F9"/>
                    </a:solidFill>
                  </a:tcPr>
                </a:tc>
                <a:tc>
                  <a:txBody>
                    <a:bodyPr/>
                    <a:lstStyle/>
                    <a:p>
                      <a:pPr marL="0" indent="0" algn="l">
                        <a:buNone/>
                      </a:pPr>
                      <a:r>
                        <a:rPr lang="en-US" sz="1200" dirty="0">
                          <a:solidFill>
                            <a:srgbClr val="1B2430"/>
                          </a:solidFill>
                          <a:latin typeface="Calibri" pitchFamily="34" charset="0"/>
                          <a:ea typeface="Calibri" pitchFamily="34" charset="-122"/>
                          <a:cs typeface="Calibri" pitchFamily="34" charset="-120"/>
                        </a:rPr>
                        <a:t>172,103</a:t>
                      </a:r>
                      <a:endParaRPr lang="en-US" sz="120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F5F8F9"/>
                    </a:solidFill>
                  </a:tcPr>
                </a:tc>
                <a:tc>
                  <a:txBody>
                    <a:bodyPr/>
                    <a:lstStyle/>
                    <a:p>
                      <a:pPr marL="0" indent="0" algn="l">
                        <a:buNone/>
                      </a:pPr>
                      <a:r>
                        <a:rPr lang="en-US" sz="1200" dirty="0">
                          <a:solidFill>
                            <a:srgbClr val="1B2430"/>
                          </a:solidFill>
                          <a:latin typeface="Calibri" pitchFamily="34" charset="0"/>
                          <a:ea typeface="Calibri" pitchFamily="34" charset="-122"/>
                          <a:cs typeface="Calibri" pitchFamily="34" charset="-120"/>
                        </a:rPr>
                        <a:t>+1,559</a:t>
                      </a:r>
                      <a:endParaRPr lang="en-US" sz="120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F5F8F9"/>
                    </a:solidFill>
                  </a:tcPr>
                </a:tc>
                <a:extLst>
                  <a:ext uri="{0D108BD9-81ED-4DB2-BD59-A6C34878D82A}">
                    <a16:rowId xmlns:a16="http://schemas.microsoft.com/office/drawing/2014/main" val="10003"/>
                  </a:ext>
                </a:extLst>
              </a:tr>
              <a:tr h="0">
                <a:tc>
                  <a:txBody>
                    <a:bodyPr/>
                    <a:lstStyle/>
                    <a:p>
                      <a:pPr marL="0" indent="0" algn="l">
                        <a:buNone/>
                      </a:pPr>
                      <a:r>
                        <a:rPr lang="en-US" sz="1200" dirty="0">
                          <a:solidFill>
                            <a:srgbClr val="1B2430"/>
                          </a:solidFill>
                          <a:latin typeface="Calibri" pitchFamily="34" charset="0"/>
                          <a:ea typeface="Calibri" pitchFamily="34" charset="-122"/>
                          <a:cs typeface="Calibri" pitchFamily="34" charset="-120"/>
                        </a:rPr>
                        <a:t>Hotel check-ins</a:t>
                      </a:r>
                      <a:endParaRPr lang="en-US" sz="120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430"/>
                          </a:solidFill>
                          <a:latin typeface="Calibri" pitchFamily="34" charset="0"/>
                          <a:ea typeface="Calibri" pitchFamily="34" charset="-122"/>
                          <a:cs typeface="Calibri" pitchFamily="34" charset="-120"/>
                        </a:rPr>
                        <a:t>72,413</a:t>
                      </a:r>
                      <a:endParaRPr lang="en-US" sz="120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430"/>
                          </a:solidFill>
                          <a:latin typeface="Calibri" pitchFamily="34" charset="0"/>
                          <a:ea typeface="Calibri" pitchFamily="34" charset="-122"/>
                          <a:cs typeface="Calibri" pitchFamily="34" charset="-120"/>
                        </a:rPr>
                        <a:t>73,144</a:t>
                      </a:r>
                      <a:endParaRPr lang="en-US" sz="120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430"/>
                          </a:solidFill>
                          <a:latin typeface="Calibri" pitchFamily="34" charset="0"/>
                          <a:ea typeface="Calibri" pitchFamily="34" charset="-122"/>
                          <a:cs typeface="Calibri" pitchFamily="34" charset="-120"/>
                        </a:rPr>
                        <a:t>+731</a:t>
                      </a:r>
                      <a:endParaRPr lang="en-US" sz="120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indent="0" algn="l">
                        <a:buNone/>
                      </a:pPr>
                      <a:r>
                        <a:rPr lang="en-US" sz="1200" dirty="0">
                          <a:solidFill>
                            <a:srgbClr val="1B2430"/>
                          </a:solidFill>
                          <a:latin typeface="Calibri" pitchFamily="34" charset="0"/>
                          <a:ea typeface="Calibri" pitchFamily="34" charset="-122"/>
                          <a:cs typeface="Calibri" pitchFamily="34" charset="-120"/>
                        </a:rPr>
                        <a:t>Guest nights</a:t>
                      </a:r>
                      <a:endParaRPr lang="en-US" sz="120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F5F8F9"/>
                    </a:solidFill>
                  </a:tcPr>
                </a:tc>
                <a:tc>
                  <a:txBody>
                    <a:bodyPr/>
                    <a:lstStyle/>
                    <a:p>
                      <a:pPr marL="0" indent="0" algn="l">
                        <a:buNone/>
                      </a:pPr>
                      <a:r>
                        <a:rPr lang="en-US" sz="1200" dirty="0">
                          <a:solidFill>
                            <a:srgbClr val="1B2430"/>
                          </a:solidFill>
                          <a:latin typeface="Calibri" pitchFamily="34" charset="0"/>
                          <a:ea typeface="Calibri" pitchFamily="34" charset="-122"/>
                          <a:cs typeface="Calibri" pitchFamily="34" charset="-120"/>
                        </a:rPr>
                        <a:t>240,131</a:t>
                      </a:r>
                      <a:endParaRPr lang="en-US" sz="120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F5F8F9"/>
                    </a:solidFill>
                  </a:tcPr>
                </a:tc>
                <a:tc>
                  <a:txBody>
                    <a:bodyPr/>
                    <a:lstStyle/>
                    <a:p>
                      <a:pPr marL="0" indent="0" algn="l">
                        <a:buNone/>
                      </a:pPr>
                      <a:r>
                        <a:rPr lang="en-US" sz="1200" dirty="0">
                          <a:solidFill>
                            <a:srgbClr val="1B2430"/>
                          </a:solidFill>
                          <a:latin typeface="Calibri" pitchFamily="34" charset="0"/>
                          <a:ea typeface="Calibri" pitchFamily="34" charset="-122"/>
                          <a:cs typeface="Calibri" pitchFamily="34" charset="-120"/>
                        </a:rPr>
                        <a:t>242,838</a:t>
                      </a:r>
                      <a:endParaRPr lang="en-US" sz="120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F5F8F9"/>
                    </a:solidFill>
                  </a:tcPr>
                </a:tc>
                <a:tc>
                  <a:txBody>
                    <a:bodyPr/>
                    <a:lstStyle/>
                    <a:p>
                      <a:pPr marL="0" indent="0" algn="l">
                        <a:buNone/>
                      </a:pPr>
                      <a:r>
                        <a:rPr lang="en-US" sz="1200" dirty="0">
                          <a:solidFill>
                            <a:srgbClr val="1B2430"/>
                          </a:solidFill>
                          <a:latin typeface="Calibri" pitchFamily="34" charset="0"/>
                          <a:ea typeface="Calibri" pitchFamily="34" charset="-122"/>
                          <a:cs typeface="Calibri" pitchFamily="34" charset="-120"/>
                        </a:rPr>
                        <a:t>+2,706</a:t>
                      </a:r>
                      <a:endParaRPr lang="en-US" sz="120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F5F8F9"/>
                    </a:solidFill>
                  </a:tcPr>
                </a:tc>
                <a:extLst>
                  <a:ext uri="{0D108BD9-81ED-4DB2-BD59-A6C34878D82A}">
                    <a16:rowId xmlns:a16="http://schemas.microsoft.com/office/drawing/2014/main" val="10005"/>
                  </a:ext>
                </a:extLst>
              </a:tr>
            </a:tbl>
          </a:graphicData>
        </a:graphic>
      </p:graphicFrame>
      <p:sp>
        <p:nvSpPr>
          <p:cNvPr id="34" name="Text 31"/>
          <p:cNvSpPr txBox="1"/>
          <p:nvPr/>
        </p:nvSpPr>
        <p:spPr>
          <a:xfrm>
            <a:off x="6537960" y="3017520"/>
            <a:ext cx="5166360" cy="1645920"/>
          </a:xfrm>
          <a:prstGeom prst="rect">
            <a:avLst/>
          </a:prstGeom>
          <a:noFill/>
          <a:ln/>
        </p:spPr>
        <p:txBody>
          <a:bodyPr wrap="square" lIns="0" tIns="0" rIns="0" bIns="0" rtlCol="0" anchor="t"/>
          <a:lstStyle/>
          <a:p>
            <a:pPr marL="0" indent="0">
              <a:spcAft>
                <a:spcPts val="600"/>
              </a:spcAft>
              <a:buNone/>
            </a:pPr>
            <a:r>
              <a:rPr lang="en-US" sz="1250" b="1" dirty="0">
                <a:solidFill>
                  <a:srgbClr val="1B2430"/>
                </a:solidFill>
                <a:latin typeface="Calibri" pitchFamily="34" charset="0"/>
                <a:ea typeface="Calibri" pitchFamily="34" charset="-122"/>
                <a:cs typeface="Calibri" pitchFamily="34" charset="-120"/>
              </a:rPr>
              <a:t>Added seats: </a:t>
            </a:r>
            <a:r>
              <a:rPr lang="en-US" sz="1250" dirty="0">
                <a:solidFill>
                  <a:srgbClr val="1B2430"/>
                </a:solidFill>
                <a:latin typeface="Calibri" pitchFamily="34" charset="0"/>
                <a:ea typeface="Calibri" pitchFamily="34" charset="-122"/>
                <a:cs typeface="Calibri" pitchFamily="34" charset="-120"/>
              </a:rPr>
              <a:t>3 flights × 196 seats × (31 ÷ 7 = 4.4286 weeks) = 2,604</a:t>
            </a:r>
            <a:endParaRPr lang="en-US" sz="1250" dirty="0"/>
          </a:p>
          <a:p>
            <a:pPr marL="0" indent="0">
              <a:spcAft>
                <a:spcPts val="600"/>
              </a:spcAft>
              <a:buNone/>
            </a:pPr>
            <a:r>
              <a:rPr lang="en-US" sz="1250" b="1" dirty="0">
                <a:solidFill>
                  <a:srgbClr val="1B2430"/>
                </a:solidFill>
                <a:latin typeface="Calibri" pitchFamily="34" charset="0"/>
                <a:ea typeface="Calibri" pitchFamily="34" charset="-122"/>
                <a:cs typeface="Calibri" pitchFamily="34" charset="-120"/>
              </a:rPr>
              <a:t>Baseline dials </a:t>
            </a:r>
            <a:r>
              <a:rPr lang="en-US" sz="1250" dirty="0">
                <a:solidFill>
                  <a:srgbClr val="1B2430"/>
                </a:solidFill>
                <a:latin typeface="Calibri" pitchFamily="34" charset="0"/>
                <a:ea typeface="Calibri" pitchFamily="34" charset="-122"/>
                <a:cs typeface="Calibri" pitchFamily="34" charset="-120"/>
              </a:rPr>
              <a:t>(from history): load factor 88.11%, P2P 65.37%, conversion 42.46%, stay 3.316 nights</a:t>
            </a:r>
            <a:endParaRPr lang="en-US" sz="1250" dirty="0"/>
          </a:p>
          <a:p>
            <a:pPr marL="0" indent="0">
              <a:spcAft>
                <a:spcPts val="600"/>
              </a:spcAft>
              <a:buNone/>
            </a:pPr>
            <a:r>
              <a:rPr lang="en-US" sz="1250" b="1" dirty="0">
                <a:solidFill>
                  <a:srgbClr val="1B2430"/>
                </a:solidFill>
                <a:latin typeface="Calibri" pitchFamily="34" charset="0"/>
                <a:ea typeface="Calibri" pitchFamily="34" charset="-122"/>
                <a:cs typeface="Calibri" pitchFamily="34" charset="-120"/>
              </a:rPr>
              <a:t>Hotel conversion </a:t>
            </a:r>
            <a:r>
              <a:rPr lang="en-US" sz="1250" dirty="0">
                <a:solidFill>
                  <a:srgbClr val="1B2430"/>
                </a:solidFill>
                <a:latin typeface="Calibri" pitchFamily="34" charset="0"/>
                <a:ea typeface="Calibri" pitchFamily="34" charset="-122"/>
                <a:cs typeface="Calibri" pitchFamily="34" charset="-120"/>
              </a:rPr>
              <a:t>combines travel purpose and hotel choice, which the data don’t show separately. It is one labelled, editable dial.</a:t>
            </a:r>
            <a:endParaRPr lang="en-US" sz="1250" dirty="0"/>
          </a:p>
        </p:txBody>
      </p:sp>
      <p:sp>
        <p:nvSpPr>
          <p:cNvPr id="35" name="caveat"/>
          <p:cNvSpPr/>
          <p:nvPr/>
        </p:nvSpPr>
        <p:spPr>
          <a:xfrm>
            <a:off x="6537960" y="4572000"/>
            <a:ext cx="5166360" cy="1417320"/>
          </a:xfrm>
          <a:prstGeom prst="roundRect">
            <a:avLst>
              <a:gd name="adj" fmla="val 5161"/>
            </a:avLst>
          </a:prstGeom>
          <a:solidFill>
            <a:srgbClr val="FBEDE9"/>
          </a:solidFill>
          <a:ln w="12700">
            <a:solidFill>
              <a:srgbClr val="FBEDE9"/>
            </a:solidFill>
            <a:prstDash val="solid"/>
          </a:ln>
        </p:spPr>
        <p:txBody>
          <a:bodyPr/>
          <a:lstStyle/>
          <a:p>
            <a:endParaRPr lang="en-AE"/>
          </a:p>
        </p:txBody>
      </p:sp>
      <p:sp>
        <p:nvSpPr>
          <p:cNvPr id="36" name="Text 33"/>
          <p:cNvSpPr txBox="1"/>
          <p:nvPr/>
        </p:nvSpPr>
        <p:spPr>
          <a:xfrm>
            <a:off x="6720840" y="4681728"/>
            <a:ext cx="4846320" cy="274320"/>
          </a:xfrm>
          <a:prstGeom prst="rect">
            <a:avLst/>
          </a:prstGeom>
          <a:noFill/>
          <a:ln/>
        </p:spPr>
        <p:txBody>
          <a:bodyPr wrap="square" lIns="0" tIns="0" rIns="0" bIns="0" rtlCol="0" anchor="t"/>
          <a:lstStyle/>
          <a:p>
            <a:pPr marL="0" indent="0">
              <a:buNone/>
            </a:pPr>
            <a:r>
              <a:rPr lang="en-US" sz="1100" b="1" kern="0" spc="100" dirty="0">
                <a:solidFill>
                  <a:srgbClr val="C8553D"/>
                </a:solidFill>
                <a:latin typeface="Calibri" pitchFamily="34" charset="0"/>
                <a:ea typeface="Calibri" pitchFamily="34" charset="-122"/>
                <a:cs typeface="Calibri" pitchFamily="34" charset="-120"/>
              </a:rPr>
              <a:t>READ THE HEADLINE CAREFULLY</a:t>
            </a:r>
            <a:endParaRPr lang="en-US" sz="1100" dirty="0"/>
          </a:p>
        </p:txBody>
      </p:sp>
      <p:sp>
        <p:nvSpPr>
          <p:cNvPr id="37" name="Text 34"/>
          <p:cNvSpPr txBox="1"/>
          <p:nvPr/>
        </p:nvSpPr>
        <p:spPr>
          <a:xfrm>
            <a:off x="6720840" y="4956048"/>
            <a:ext cx="4846320" cy="960120"/>
          </a:xfrm>
          <a:prstGeom prst="rect">
            <a:avLst/>
          </a:prstGeom>
          <a:noFill/>
          <a:ln/>
        </p:spPr>
        <p:txBody>
          <a:bodyPr wrap="square" lIns="0" tIns="0" rIns="0" bIns="0" rtlCol="0" anchor="t"/>
          <a:lstStyle/>
          <a:p>
            <a:pPr marL="0" indent="0">
              <a:buNone/>
            </a:pPr>
            <a:r>
              <a:rPr lang="en-US" sz="1200" dirty="0">
                <a:solidFill>
                  <a:srgbClr val="1B2430"/>
                </a:solidFill>
                <a:latin typeface="Calibri" pitchFamily="34" charset="0"/>
                <a:ea typeface="Calibri" pitchFamily="34" charset="-122"/>
                <a:cs typeface="Calibri" pitchFamily="34" charset="-120"/>
              </a:rPr>
              <a:t>The live demo uses rounded dials (88.1%, 65.4%, 42.5%, 3.32) vs. baseline 88.11%, 65.37%, 42.46%, 3.316. The workbook’s isolated flights-only test (full-precision dials) gives +637 check-ins and +2,112 guest nights. The rest of +731 / +2,706 comes from that rounding.</a:t>
            </a:r>
            <a:endParaRPr lang="en-US" sz="1200" dirty="0"/>
          </a:p>
        </p:txBody>
      </p:sp>
      <p:sp>
        <p:nvSpPr>
          <p:cNvPr id="38"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7A"/>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11247120" cy="685800"/>
          </a:xfrm>
          <a:prstGeom prst="rect">
            <a:avLst/>
          </a:prstGeom>
          <a:noFill/>
          <a:ln/>
        </p:spPr>
        <p:txBody>
          <a:bodyPr wrap="square" lIns="0" tIns="0" rIns="0" bIns="0" rtlCol="0" anchor="ctr"/>
          <a:lstStyle/>
          <a:p>
            <a:pPr marL="0" indent="0" algn="l">
              <a:buNone/>
            </a:pPr>
            <a:r>
              <a:rPr lang="en-US" sz="2800" b="1" dirty="0">
                <a:solidFill>
                  <a:srgbClr val="0E3B4A"/>
                </a:solidFill>
                <a:latin typeface="Cambria" pitchFamily="34" charset="0"/>
                <a:ea typeface="Cambria" pitchFamily="34" charset="-122"/>
                <a:cs typeface="Cambria" pitchFamily="34" charset="-120"/>
              </a:rPr>
              <a:t>The Country Bridge splits demand across 45 nationalities</a:t>
            </a:r>
            <a:endParaRPr lang="en-US" sz="2800" dirty="0"/>
          </a:p>
        </p:txBody>
      </p:sp>
      <p:sp>
        <p:nvSpPr>
          <p:cNvPr id="3" name="Text 1"/>
          <p:cNvSpPr txBox="1"/>
          <p:nvPr/>
        </p:nvSpPr>
        <p:spPr>
          <a:xfrm>
            <a:off x="457200" y="1051560"/>
            <a:ext cx="11247120" cy="320040"/>
          </a:xfrm>
          <a:prstGeom prst="rect">
            <a:avLst/>
          </a:prstGeom>
          <a:noFill/>
          <a:ln/>
        </p:spPr>
        <p:txBody>
          <a:bodyPr wrap="square" lIns="0" tIns="0" rIns="0" bIns="0" rtlCol="0" anchor="t"/>
          <a:lstStyle/>
          <a:p>
            <a:pPr marL="0" indent="0">
              <a:buNone/>
            </a:pPr>
            <a:r>
              <a:rPr lang="en-US" sz="1350" i="1" dirty="0">
                <a:solidFill>
                  <a:srgbClr val="5B6B7A"/>
                </a:solidFill>
                <a:latin typeface="Calibri" pitchFamily="34" charset="0"/>
                <a:ea typeface="Calibri" pitchFamily="34" charset="-122"/>
                <a:cs typeface="Calibri" pitchFamily="34" charset="-120"/>
              </a:rPr>
              <a:t>It doesn’t change the total. It only divides the check-ins and guest nights that the chain already calculated.</a:t>
            </a:r>
            <a:endParaRPr lang="en-US" sz="1350" dirty="0"/>
          </a:p>
        </p:txBody>
      </p:sp>
      <p:sp>
        <p:nvSpPr>
          <p:cNvPr id="4" name="Text 2"/>
          <p:cNvSpPr txBox="1"/>
          <p:nvPr/>
        </p:nvSpPr>
        <p:spPr>
          <a:xfrm>
            <a:off x="457200" y="1508760"/>
            <a:ext cx="5852160" cy="274320"/>
          </a:xfrm>
          <a:prstGeom prst="rect">
            <a:avLst/>
          </a:prstGeom>
          <a:noFill/>
          <a:ln/>
        </p:spPr>
        <p:txBody>
          <a:bodyPr wrap="square" lIns="0" tIns="0" rIns="0" bIns="0" rtlCol="0" anchor="t"/>
          <a:lstStyle/>
          <a:p>
            <a:pPr marL="0" indent="0">
              <a:buNone/>
            </a:pPr>
            <a:r>
              <a:rPr lang="en-US" sz="1100" b="1" kern="0" spc="100" dirty="0">
                <a:solidFill>
                  <a:srgbClr val="0E7C86"/>
                </a:solidFill>
                <a:latin typeface="Calibri" pitchFamily="34" charset="0"/>
                <a:ea typeface="Calibri" pitchFamily="34" charset="-122"/>
                <a:cs typeface="Calibri" pitchFamily="34" charset="-120"/>
              </a:rPr>
              <a:t>HOW EACH WEIGHT IS BUILT (PER ORIGIN × MONTH)</a:t>
            </a:r>
            <a:endParaRPr lang="en-US" sz="1100" dirty="0"/>
          </a:p>
        </p:txBody>
      </p:sp>
      <p:sp>
        <p:nvSpPr>
          <p:cNvPr id="5" name="Text 3"/>
          <p:cNvSpPr txBox="1"/>
          <p:nvPr/>
        </p:nvSpPr>
        <p:spPr>
          <a:xfrm>
            <a:off x="457200" y="1828800"/>
            <a:ext cx="5852160" cy="2651760"/>
          </a:xfrm>
          <a:prstGeom prst="rect">
            <a:avLst/>
          </a:prstGeom>
          <a:noFill/>
          <a:ln/>
        </p:spPr>
        <p:txBody>
          <a:bodyPr wrap="square" lIns="0" tIns="0" rIns="0" bIns="0" rtlCol="0" anchor="t"/>
          <a:lstStyle/>
          <a:p>
            <a:pPr marL="0" indent="0">
              <a:spcAft>
                <a:spcPts val="500"/>
              </a:spcAft>
              <a:buNone/>
            </a:pPr>
            <a:r>
              <a:rPr lang="en-US" sz="1250" b="1" dirty="0">
                <a:solidFill>
                  <a:srgbClr val="1B2430"/>
                </a:solidFill>
                <a:latin typeface="Calibri" pitchFamily="34" charset="0"/>
                <a:ea typeface="Calibri" pitchFamily="34" charset="-122"/>
                <a:cs typeface="Calibri" pitchFamily="34" charset="-120"/>
              </a:rPr>
              <a:t>Inputs: </a:t>
            </a:r>
            <a:r>
              <a:rPr lang="en-US" sz="1250" dirty="0">
                <a:solidFill>
                  <a:srgbClr val="1B2430"/>
                </a:solidFill>
                <a:latin typeface="Calibri" pitchFamily="34" charset="0"/>
                <a:ea typeface="Calibri" pitchFamily="34" charset="-122"/>
                <a:cs typeface="Calibri" pitchFamily="34" charset="-120"/>
              </a:rPr>
              <a:t>monthly P2P passengers per origin vs. New Arrivals per nationality, on a log(1 + value) scale</a:t>
            </a:r>
            <a:endParaRPr lang="en-US" sz="1250" dirty="0"/>
          </a:p>
          <a:p>
            <a:pPr marL="0" indent="0">
              <a:spcAft>
                <a:spcPts val="500"/>
              </a:spcAft>
              <a:buNone/>
            </a:pPr>
            <a:r>
              <a:rPr lang="en-US" sz="1250" b="1" dirty="0">
                <a:solidFill>
                  <a:srgbClr val="1B2430"/>
                </a:solidFill>
                <a:latin typeface="Calibri" pitchFamily="34" charset="0"/>
                <a:ea typeface="Calibri" pitchFamily="34" charset="-122"/>
                <a:cs typeface="Calibri" pitchFamily="34" charset="-120"/>
              </a:rPr>
              <a:t>Combined: </a:t>
            </a:r>
            <a:r>
              <a:rPr lang="en-US" sz="1250" dirty="0">
                <a:solidFill>
                  <a:srgbClr val="1B2430"/>
                </a:solidFill>
                <a:latin typeface="Calibri" pitchFamily="34" charset="0"/>
                <a:ea typeface="Calibri" pitchFamily="34" charset="-122"/>
                <a:cs typeface="Calibri" pitchFamily="34" charset="-120"/>
              </a:rPr>
              <a:t>max(0, 0.70 × level correlation + 0.30 × change correlation)</a:t>
            </a:r>
            <a:endParaRPr lang="en-US" sz="1250" dirty="0"/>
          </a:p>
          <a:p>
            <a:pPr marL="0" indent="0">
              <a:spcAft>
                <a:spcPts val="500"/>
              </a:spcAft>
              <a:buNone/>
            </a:pPr>
            <a:r>
              <a:rPr lang="en-US" sz="1250" b="1" dirty="0">
                <a:solidFill>
                  <a:srgbClr val="1B2430"/>
                </a:solidFill>
                <a:latin typeface="Calibri" pitchFamily="34" charset="0"/>
                <a:ea typeface="Calibri" pitchFamily="34" charset="-122"/>
                <a:cs typeface="Calibri" pitchFamily="34" charset="-120"/>
              </a:rPr>
              <a:t>Score: </a:t>
            </a:r>
            <a:r>
              <a:rPr lang="en-US" sz="1250" dirty="0">
                <a:solidFill>
                  <a:srgbClr val="1B2430"/>
                </a:solidFill>
                <a:latin typeface="Calibri" pitchFamily="34" charset="0"/>
                <a:ea typeface="Calibri" pitchFamily="34" charset="-122"/>
                <a:cs typeface="Calibri" pitchFamily="34" charset="-120"/>
              </a:rPr>
              <a:t>nationality share × (0.35 + 2 × combined²)</a:t>
            </a:r>
            <a:endParaRPr lang="en-US" sz="1250" dirty="0"/>
          </a:p>
          <a:p>
            <a:pPr marL="0" indent="0">
              <a:spcAft>
                <a:spcPts val="500"/>
              </a:spcAft>
              <a:buNone/>
            </a:pPr>
            <a:r>
              <a:rPr lang="en-US" sz="1250" b="1" dirty="0">
                <a:solidFill>
                  <a:srgbClr val="1B2430"/>
                </a:solidFill>
                <a:latin typeface="Calibri" pitchFamily="34" charset="0"/>
                <a:ea typeface="Calibri" pitchFamily="34" charset="-122"/>
                <a:cs typeface="Calibri" pitchFamily="34" charset="-120"/>
              </a:rPr>
              <a:t>Direct-match prior: </a:t>
            </a:r>
            <a:r>
              <a:rPr lang="en-US" sz="1250" dirty="0">
                <a:solidFill>
                  <a:srgbClr val="1B2430"/>
                </a:solidFill>
                <a:latin typeface="Calibri" pitchFamily="34" charset="0"/>
                <a:ea typeface="Calibri" pitchFamily="34" charset="-122"/>
                <a:cs typeface="Calibri" pitchFamily="34" charset="-120"/>
              </a:rPr>
              <a:t>× 6 when names match (India→India), a preference, not a forced 100%</a:t>
            </a:r>
            <a:endParaRPr lang="en-US" sz="1250" dirty="0"/>
          </a:p>
          <a:p>
            <a:pPr marL="0" indent="0">
              <a:spcAft>
                <a:spcPts val="500"/>
              </a:spcAft>
              <a:buNone/>
            </a:pPr>
            <a:r>
              <a:rPr lang="en-US" sz="1250" b="1" dirty="0">
                <a:solidFill>
                  <a:srgbClr val="1B2430"/>
                </a:solidFill>
                <a:latin typeface="Calibri" pitchFamily="34" charset="0"/>
                <a:ea typeface="Calibri" pitchFamily="34" charset="-122"/>
                <a:cs typeface="Calibri" pitchFamily="34" charset="-120"/>
              </a:rPr>
              <a:t>Season: </a:t>
            </a:r>
            <a:r>
              <a:rPr lang="en-US" sz="1250" dirty="0">
                <a:solidFill>
                  <a:srgbClr val="1B2430"/>
                </a:solidFill>
                <a:latin typeface="Calibri" pitchFamily="34" charset="0"/>
                <a:ea typeface="Calibri" pitchFamily="34" charset="-122"/>
                <a:cs typeface="Calibri" pitchFamily="34" charset="-120"/>
              </a:rPr>
              <a:t>score × seasonal factor^0.7, factor clipped to 0.35–2.5</a:t>
            </a:r>
            <a:endParaRPr lang="en-US" sz="1250" dirty="0"/>
          </a:p>
          <a:p>
            <a:pPr marL="0" indent="0">
              <a:spcAft>
                <a:spcPts val="500"/>
              </a:spcAft>
              <a:buNone/>
            </a:pPr>
            <a:r>
              <a:rPr lang="en-US" sz="1250" b="1" dirty="0">
                <a:solidFill>
                  <a:srgbClr val="1B2430"/>
                </a:solidFill>
                <a:latin typeface="Calibri" pitchFamily="34" charset="0"/>
                <a:ea typeface="Calibri" pitchFamily="34" charset="-122"/>
                <a:cs typeface="Calibri" pitchFamily="34" charset="-120"/>
              </a:rPr>
              <a:t>Normalise: </a:t>
            </a:r>
            <a:r>
              <a:rPr lang="en-US" sz="1250" dirty="0">
                <a:solidFill>
                  <a:srgbClr val="1B2430"/>
                </a:solidFill>
                <a:latin typeface="Calibri" pitchFamily="34" charset="0"/>
                <a:ea typeface="Calibri" pitchFamily="34" charset="-122"/>
                <a:cs typeface="Calibri" pitchFamily="34" charset="-120"/>
              </a:rPr>
              <a:t>weight = score ÷ sum of scores, so all weights add to 100%</a:t>
            </a:r>
            <a:endParaRPr lang="en-US" sz="1250" dirty="0"/>
          </a:p>
        </p:txBody>
      </p:sp>
      <p:sp>
        <p:nvSpPr>
          <p:cNvPr id="6" name="Text 4"/>
          <p:cNvSpPr txBox="1"/>
          <p:nvPr/>
        </p:nvSpPr>
        <p:spPr>
          <a:xfrm>
            <a:off x="457200" y="3886200"/>
            <a:ext cx="5852160" cy="274320"/>
          </a:xfrm>
          <a:prstGeom prst="rect">
            <a:avLst/>
          </a:prstGeom>
          <a:noFill/>
          <a:ln/>
        </p:spPr>
        <p:txBody>
          <a:bodyPr wrap="square" lIns="0" tIns="0" rIns="0" bIns="0" rtlCol="0" anchor="t"/>
          <a:lstStyle/>
          <a:p>
            <a:pPr marL="0" indent="0">
              <a:buNone/>
            </a:pPr>
            <a:r>
              <a:rPr lang="en-US" sz="1100" b="1" kern="0" spc="100" dirty="0">
                <a:solidFill>
                  <a:srgbClr val="0E7C86"/>
                </a:solidFill>
                <a:latin typeface="Calibri" pitchFamily="34" charset="0"/>
                <a:ea typeface="Calibri" pitchFamily="34" charset="-122"/>
                <a:cs typeface="Calibri" pitchFamily="34" charset="-120"/>
              </a:rPr>
              <a:t>OTHER RULES</a:t>
            </a:r>
            <a:endParaRPr lang="en-US" sz="1100" dirty="0"/>
          </a:p>
        </p:txBody>
      </p:sp>
      <p:sp>
        <p:nvSpPr>
          <p:cNvPr id="7" name="Text 5"/>
          <p:cNvSpPr txBox="1"/>
          <p:nvPr/>
        </p:nvSpPr>
        <p:spPr>
          <a:xfrm>
            <a:off x="457200" y="4206240"/>
            <a:ext cx="5852160" cy="1737360"/>
          </a:xfrm>
          <a:prstGeom prst="rect">
            <a:avLst/>
          </a:prstGeom>
          <a:noFill/>
          <a:ln/>
        </p:spPr>
        <p:txBody>
          <a:bodyPr wrap="square" lIns="0" tIns="0" rIns="0" bIns="0" rtlCol="0" anchor="t"/>
          <a:lstStyle/>
          <a:p>
            <a:pPr marL="0" indent="0">
              <a:spcAft>
                <a:spcPts val="400"/>
              </a:spcAft>
              <a:buNone/>
            </a:pPr>
            <a:r>
              <a:rPr lang="en-US" sz="1250" b="1" dirty="0">
                <a:solidFill>
                  <a:srgbClr val="1B2430"/>
                </a:solidFill>
                <a:latin typeface="Calibri" pitchFamily="34" charset="0"/>
                <a:ea typeface="Calibri" pitchFamily="34" charset="-122"/>
                <a:cs typeface="Calibri" pitchFamily="34" charset="-120"/>
              </a:rPr>
              <a:t>Planner override: </a:t>
            </a:r>
            <a:r>
              <a:rPr lang="en-US" sz="1250" dirty="0">
                <a:solidFill>
                  <a:srgbClr val="1B2430"/>
                </a:solidFill>
                <a:latin typeface="Calibri" pitchFamily="34" charset="0"/>
                <a:ea typeface="Calibri" pitchFamily="34" charset="-122"/>
                <a:cs typeface="Calibri" pitchFamily="34" charset="-120"/>
              </a:rPr>
              <a:t>edit weights; each is divided by the new total so all 45 still add to 100%. Reset removes it.</a:t>
            </a:r>
            <a:endParaRPr lang="en-US" sz="1250" dirty="0"/>
          </a:p>
          <a:p>
            <a:pPr marL="0" indent="0">
              <a:spcAft>
                <a:spcPts val="400"/>
              </a:spcAft>
              <a:buNone/>
            </a:pPr>
            <a:r>
              <a:rPr lang="en-US" sz="1250" b="1" dirty="0">
                <a:solidFill>
                  <a:srgbClr val="1B2430"/>
                </a:solidFill>
                <a:latin typeface="Calibri" pitchFamily="34" charset="0"/>
                <a:ea typeface="Calibri" pitchFamily="34" charset="-122"/>
                <a:cs typeface="Calibri" pitchFamily="34" charset="-120"/>
              </a:rPr>
              <a:t>Per-nationality stay: </a:t>
            </a:r>
            <a:r>
              <a:rPr lang="en-US" sz="1250" dirty="0">
                <a:solidFill>
                  <a:srgbClr val="1B2430"/>
                </a:solidFill>
                <a:latin typeface="Calibri" pitchFamily="34" charset="0"/>
                <a:ea typeface="Calibri" pitchFamily="34" charset="-122"/>
                <a:cs typeface="Calibri" pitchFamily="34" charset="-120"/>
              </a:rPr>
              <a:t>70% nationality-month + 30% nationality overall, clipped to 1–8 nights; rescaled so guest nights reconcile to the headline.</a:t>
            </a:r>
            <a:endParaRPr lang="en-US" sz="1250" dirty="0"/>
          </a:p>
          <a:p>
            <a:pPr marL="0" indent="0">
              <a:spcAft>
                <a:spcPts val="400"/>
              </a:spcAft>
              <a:buNone/>
            </a:pPr>
            <a:r>
              <a:rPr lang="en-US" sz="1250" b="1" dirty="0">
                <a:solidFill>
                  <a:srgbClr val="1B2430"/>
                </a:solidFill>
                <a:latin typeface="Calibri" pitchFamily="34" charset="0"/>
                <a:ea typeface="Calibri" pitchFamily="34" charset="-122"/>
                <a:cs typeface="Calibri" pitchFamily="34" charset="-120"/>
              </a:rPr>
              <a:t>Not passenger tracking: </a:t>
            </a:r>
            <a:r>
              <a:rPr lang="en-US" sz="1250" dirty="0">
                <a:solidFill>
                  <a:srgbClr val="1B2430"/>
                </a:solidFill>
                <a:latin typeface="Calibri" pitchFamily="34" charset="0"/>
                <a:ea typeface="Calibri" pitchFamily="34" charset="-122"/>
                <a:cs typeface="Calibri" pitchFamily="34" charset="-120"/>
              </a:rPr>
              <a:t>an aggregate estimate, never for individual targeting.</a:t>
            </a:r>
            <a:endParaRPr lang="en-US" sz="1250" dirty="0"/>
          </a:p>
        </p:txBody>
      </p:sp>
      <p:graphicFrame>
        <p:nvGraphicFramePr>
          <p:cNvPr id="8" name="Chart 0"/>
          <p:cNvGraphicFramePr/>
          <p:nvPr/>
        </p:nvGraphicFramePr>
        <p:xfrm>
          <a:off x="6583680" y="1463040"/>
          <a:ext cx="512064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6"/>
          <p:cNvSpPr txBox="1"/>
          <p:nvPr/>
        </p:nvSpPr>
        <p:spPr>
          <a:xfrm>
            <a:off x="6583680" y="5760720"/>
            <a:ext cx="5120640" cy="548640"/>
          </a:xfrm>
          <a:prstGeom prst="rect">
            <a:avLst/>
          </a:prstGeom>
          <a:noFill/>
          <a:ln/>
        </p:spPr>
        <p:txBody>
          <a:bodyPr wrap="square" lIns="0" tIns="0" rIns="0" bIns="0" rtlCol="0" anchor="t"/>
          <a:lstStyle/>
          <a:p>
            <a:pPr marL="0" indent="0">
              <a:buNone/>
            </a:pPr>
            <a:r>
              <a:rPr lang="en-US" sz="1100" dirty="0">
                <a:solidFill>
                  <a:srgbClr val="5B6B7A"/>
                </a:solidFill>
                <a:latin typeface="Calibri" pitchFamily="34" charset="0"/>
                <a:ea typeface="Calibri" pitchFamily="34" charset="-122"/>
                <a:cs typeface="Calibri" pitchFamily="34" charset="-120"/>
              </a:rPr>
              <a:t>Of +731 extra check-ins, ≈412.5 go to Indian nationals (56.4%). 17,820 rows = 33 origins × 12 months × 45 nationalities.</a:t>
            </a:r>
            <a:endParaRPr lang="en-US" sz="11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7A"/>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11247120" cy="685800"/>
          </a:xfrm>
          <a:prstGeom prst="rect">
            <a:avLst/>
          </a:prstGeom>
          <a:noFill/>
          <a:ln/>
        </p:spPr>
        <p:txBody>
          <a:bodyPr wrap="square" lIns="0" tIns="0" rIns="0" bIns="0" rtlCol="0" anchor="ctr"/>
          <a:lstStyle/>
          <a:p>
            <a:pPr marL="0" indent="0" algn="l">
              <a:buNone/>
            </a:pPr>
            <a:r>
              <a:rPr lang="en-US" sz="2800" b="1" dirty="0">
                <a:solidFill>
                  <a:srgbClr val="0E3B4A"/>
                </a:solidFill>
                <a:latin typeface="Cambria" pitchFamily="34" charset="0"/>
                <a:ea typeface="Cambria" pitchFamily="34" charset="-122"/>
                <a:cs typeface="Cambria" pitchFamily="34" charset="-120"/>
              </a:rPr>
              <a:t>Tested on 7 later months it never trained on</a:t>
            </a:r>
            <a:endParaRPr lang="en-US" sz="2800" dirty="0"/>
          </a:p>
        </p:txBody>
      </p:sp>
      <p:graphicFrame>
        <p:nvGraphicFramePr>
          <p:cNvPr id="3" name="Chart 0"/>
          <p:cNvGraphicFramePr/>
          <p:nvPr/>
        </p:nvGraphicFramePr>
        <p:xfrm>
          <a:off x="365760" y="1097280"/>
          <a:ext cx="658368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p:cNvSpPr txBox="1"/>
          <p:nvPr/>
        </p:nvSpPr>
        <p:spPr>
          <a:xfrm>
            <a:off x="457200" y="5120640"/>
            <a:ext cx="6492240" cy="502920"/>
          </a:xfrm>
          <a:prstGeom prst="rect">
            <a:avLst/>
          </a:prstGeom>
          <a:noFill/>
          <a:ln/>
        </p:spPr>
        <p:txBody>
          <a:bodyPr wrap="square" lIns="0" tIns="0" rIns="0" bIns="0" rtlCol="0" anchor="t"/>
          <a:lstStyle/>
          <a:p>
            <a:pPr marL="0" indent="0">
              <a:buNone/>
            </a:pPr>
            <a:r>
              <a:rPr lang="en-US" sz="1200" dirty="0">
                <a:solidFill>
                  <a:srgbClr val="1B2430"/>
                </a:solidFill>
                <a:latin typeface="Calibri" pitchFamily="34" charset="0"/>
                <a:ea typeface="Calibri" pitchFamily="34" charset="-122"/>
                <a:cs typeface="Calibri" pitchFamily="34" charset="-120"/>
              </a:rPr>
              <a:t>Split by time: trained on 36 months (Jan 2022–Dec 2024, 83.7%), rules locked, then scored on 7 months (Jan–Jul 2025, 16.3%).</a:t>
            </a:r>
            <a:endParaRPr lang="en-US" sz="1200" dirty="0"/>
          </a:p>
        </p:txBody>
      </p:sp>
      <p:sp>
        <p:nvSpPr>
          <p:cNvPr id="5" name="Text 2"/>
          <p:cNvSpPr txBox="1"/>
          <p:nvPr/>
        </p:nvSpPr>
        <p:spPr>
          <a:xfrm>
            <a:off x="457200" y="5669280"/>
            <a:ext cx="6492240" cy="320040"/>
          </a:xfrm>
          <a:prstGeom prst="rect">
            <a:avLst/>
          </a:prstGeom>
          <a:noFill/>
          <a:ln/>
        </p:spPr>
        <p:txBody>
          <a:bodyPr wrap="square" lIns="0" tIns="0" rIns="0" bIns="0" rtlCol="0" anchor="t"/>
          <a:lstStyle/>
          <a:p>
            <a:pPr marL="0" indent="0">
              <a:buNone/>
            </a:pPr>
            <a:r>
              <a:rPr lang="en-US" sz="1200" b="1" dirty="0">
                <a:solidFill>
                  <a:srgbClr val="0E3B4A"/>
                </a:solidFill>
                <a:latin typeface="Calibri" pitchFamily="34" charset="0"/>
                <a:ea typeface="Calibri" pitchFamily="34" charset="-122"/>
                <a:cs typeface="Calibri" pitchFamily="34" charset="-120"/>
              </a:rPr>
              <a:t>WMAPE = sum of |actual − predicted| ÷ sum of actual. Lower is better.</a:t>
            </a:r>
            <a:endParaRPr lang="en-US" sz="1200" dirty="0"/>
          </a:p>
        </p:txBody>
      </p:sp>
      <p:sp>
        <p:nvSpPr>
          <p:cNvPr id="6" name="wm0"/>
          <p:cNvSpPr/>
          <p:nvPr/>
        </p:nvSpPr>
        <p:spPr>
          <a:xfrm>
            <a:off x="7269480" y="1143000"/>
            <a:ext cx="2103120" cy="1234440"/>
          </a:xfrm>
          <a:prstGeom prst="roundRect">
            <a:avLst>
              <a:gd name="adj" fmla="val 5926"/>
            </a:avLst>
          </a:prstGeom>
          <a:solidFill>
            <a:srgbClr val="EEF2F4"/>
          </a:solidFill>
          <a:ln w="12700">
            <a:solidFill>
              <a:srgbClr val="EEF2F4"/>
            </a:solidFill>
            <a:prstDash val="solid"/>
          </a:ln>
        </p:spPr>
        <p:txBody>
          <a:bodyPr/>
          <a:lstStyle/>
          <a:p>
            <a:endParaRPr lang="en-AE"/>
          </a:p>
        </p:txBody>
      </p:sp>
      <p:sp>
        <p:nvSpPr>
          <p:cNvPr id="7" name="Text 4"/>
          <p:cNvSpPr txBox="1"/>
          <p:nvPr/>
        </p:nvSpPr>
        <p:spPr>
          <a:xfrm>
            <a:off x="7406640" y="1234440"/>
            <a:ext cx="1828800" cy="457200"/>
          </a:xfrm>
          <a:prstGeom prst="rect">
            <a:avLst/>
          </a:prstGeom>
          <a:noFill/>
          <a:ln/>
        </p:spPr>
        <p:txBody>
          <a:bodyPr wrap="square" lIns="0" tIns="0" rIns="0" bIns="0" rtlCol="0" anchor="t"/>
          <a:lstStyle/>
          <a:p>
            <a:pPr marL="0" indent="0">
              <a:buNone/>
            </a:pPr>
            <a:r>
              <a:rPr lang="en-US" sz="2400" b="1" dirty="0">
                <a:solidFill>
                  <a:srgbClr val="0E7C86"/>
                </a:solidFill>
                <a:latin typeface="Cambria" pitchFamily="34" charset="0"/>
                <a:ea typeface="Cambria" pitchFamily="34" charset="-122"/>
                <a:cs typeface="Cambria" pitchFamily="34" charset="-120"/>
              </a:rPr>
              <a:t>6.91%</a:t>
            </a:r>
            <a:endParaRPr lang="en-US" sz="2400" dirty="0"/>
          </a:p>
        </p:txBody>
      </p:sp>
      <p:sp>
        <p:nvSpPr>
          <p:cNvPr id="8" name="Text 5"/>
          <p:cNvSpPr txBox="1"/>
          <p:nvPr/>
        </p:nvSpPr>
        <p:spPr>
          <a:xfrm>
            <a:off x="7406640" y="1709928"/>
            <a:ext cx="1874520" cy="274320"/>
          </a:xfrm>
          <a:prstGeom prst="rect">
            <a:avLst/>
          </a:prstGeom>
          <a:noFill/>
          <a:ln/>
        </p:spPr>
        <p:txBody>
          <a:bodyPr wrap="square" lIns="0" tIns="0" rIns="0" bIns="0" rtlCol="0" anchor="t"/>
          <a:lstStyle/>
          <a:p>
            <a:pPr marL="0" indent="0">
              <a:buNone/>
            </a:pPr>
            <a:r>
              <a:rPr lang="en-US" sz="1150" b="1" dirty="0">
                <a:solidFill>
                  <a:srgbClr val="1B2430"/>
                </a:solidFill>
                <a:latin typeface="Calibri" pitchFamily="34" charset="0"/>
                <a:ea typeface="Calibri" pitchFamily="34" charset="-122"/>
                <a:cs typeface="Calibri" pitchFamily="34" charset="-120"/>
              </a:rPr>
              <a:t>Transparent chain</a:t>
            </a:r>
            <a:endParaRPr lang="en-US" sz="1150" dirty="0"/>
          </a:p>
        </p:txBody>
      </p:sp>
      <p:sp>
        <p:nvSpPr>
          <p:cNvPr id="9" name="Text 6"/>
          <p:cNvSpPr txBox="1"/>
          <p:nvPr/>
        </p:nvSpPr>
        <p:spPr>
          <a:xfrm>
            <a:off x="7406640" y="1984248"/>
            <a:ext cx="1874520" cy="274320"/>
          </a:xfrm>
          <a:prstGeom prst="rect">
            <a:avLst/>
          </a:prstGeom>
          <a:noFill/>
          <a:ln/>
        </p:spPr>
        <p:txBody>
          <a:bodyPr wrap="square" lIns="0" tIns="0" rIns="0" bIns="0" rtlCol="0" anchor="t"/>
          <a:lstStyle/>
          <a:p>
            <a:pPr marL="0" indent="0">
              <a:buNone/>
            </a:pPr>
            <a:r>
              <a:rPr lang="en-US" sz="1000" dirty="0">
                <a:solidFill>
                  <a:srgbClr val="5B6B7A"/>
                </a:solidFill>
                <a:latin typeface="Calibri" pitchFamily="34" charset="0"/>
                <a:ea typeface="Calibri" pitchFamily="34" charset="-122"/>
                <a:cs typeface="Calibri" pitchFamily="34" charset="-120"/>
              </a:rPr>
              <a:t>107,148 ÷ 1,550,679</a:t>
            </a:r>
            <a:endParaRPr lang="en-US" sz="1000" dirty="0"/>
          </a:p>
        </p:txBody>
      </p:sp>
      <p:sp>
        <p:nvSpPr>
          <p:cNvPr id="10" name="wm1"/>
          <p:cNvSpPr/>
          <p:nvPr/>
        </p:nvSpPr>
        <p:spPr>
          <a:xfrm>
            <a:off x="9509760" y="1143000"/>
            <a:ext cx="2103120" cy="1234440"/>
          </a:xfrm>
          <a:prstGeom prst="roundRect">
            <a:avLst>
              <a:gd name="adj" fmla="val 5926"/>
            </a:avLst>
          </a:prstGeom>
          <a:solidFill>
            <a:srgbClr val="EEF2F4"/>
          </a:solidFill>
          <a:ln w="12700">
            <a:solidFill>
              <a:srgbClr val="EEF2F4"/>
            </a:solidFill>
            <a:prstDash val="solid"/>
          </a:ln>
        </p:spPr>
        <p:txBody>
          <a:bodyPr/>
          <a:lstStyle/>
          <a:p>
            <a:endParaRPr lang="en-AE"/>
          </a:p>
        </p:txBody>
      </p:sp>
      <p:sp>
        <p:nvSpPr>
          <p:cNvPr id="11" name="Text 8"/>
          <p:cNvSpPr txBox="1"/>
          <p:nvPr/>
        </p:nvSpPr>
        <p:spPr>
          <a:xfrm>
            <a:off x="9646920" y="1234440"/>
            <a:ext cx="1828800" cy="457200"/>
          </a:xfrm>
          <a:prstGeom prst="rect">
            <a:avLst/>
          </a:prstGeom>
          <a:noFill/>
          <a:ln/>
        </p:spPr>
        <p:txBody>
          <a:bodyPr wrap="square" lIns="0" tIns="0" rIns="0" bIns="0" rtlCol="0" anchor="t"/>
          <a:lstStyle/>
          <a:p>
            <a:pPr marL="0" indent="0">
              <a:buNone/>
            </a:pPr>
            <a:r>
              <a:rPr lang="en-US" sz="2400" b="1" dirty="0">
                <a:solidFill>
                  <a:srgbClr val="D4A03A"/>
                </a:solidFill>
                <a:latin typeface="Cambria" pitchFamily="34" charset="0"/>
                <a:ea typeface="Cambria" pitchFamily="34" charset="-122"/>
                <a:cs typeface="Cambria" pitchFamily="34" charset="-120"/>
              </a:rPr>
              <a:t>7.24%</a:t>
            </a:r>
            <a:endParaRPr lang="en-US" sz="2400" dirty="0"/>
          </a:p>
        </p:txBody>
      </p:sp>
      <p:sp>
        <p:nvSpPr>
          <p:cNvPr id="12" name="Text 9"/>
          <p:cNvSpPr txBox="1"/>
          <p:nvPr/>
        </p:nvSpPr>
        <p:spPr>
          <a:xfrm>
            <a:off x="9646920" y="1709928"/>
            <a:ext cx="1874520" cy="274320"/>
          </a:xfrm>
          <a:prstGeom prst="rect">
            <a:avLst/>
          </a:prstGeom>
          <a:noFill/>
          <a:ln/>
        </p:spPr>
        <p:txBody>
          <a:bodyPr wrap="square" lIns="0" tIns="0" rIns="0" bIns="0" rtlCol="0" anchor="t"/>
          <a:lstStyle/>
          <a:p>
            <a:pPr marL="0" indent="0">
              <a:buNone/>
            </a:pPr>
            <a:r>
              <a:rPr lang="en-US" sz="1150" b="1" dirty="0">
                <a:solidFill>
                  <a:srgbClr val="1B2430"/>
                </a:solidFill>
                <a:latin typeface="Calibri" pitchFamily="34" charset="0"/>
                <a:ea typeface="Calibri" pitchFamily="34" charset="-122"/>
                <a:cs typeface="Calibri" pitchFamily="34" charset="-120"/>
              </a:rPr>
              <a:t>Hybrid benchmark</a:t>
            </a:r>
            <a:endParaRPr lang="en-US" sz="1150" dirty="0"/>
          </a:p>
        </p:txBody>
      </p:sp>
      <p:sp>
        <p:nvSpPr>
          <p:cNvPr id="13" name="Text 10"/>
          <p:cNvSpPr txBox="1"/>
          <p:nvPr/>
        </p:nvSpPr>
        <p:spPr>
          <a:xfrm>
            <a:off x="9646920" y="1984248"/>
            <a:ext cx="1874520" cy="274320"/>
          </a:xfrm>
          <a:prstGeom prst="rect">
            <a:avLst/>
          </a:prstGeom>
          <a:noFill/>
          <a:ln/>
        </p:spPr>
        <p:txBody>
          <a:bodyPr wrap="square" lIns="0" tIns="0" rIns="0" bIns="0" rtlCol="0" anchor="t"/>
          <a:lstStyle/>
          <a:p>
            <a:pPr marL="0" indent="0">
              <a:buNone/>
            </a:pPr>
            <a:r>
              <a:rPr lang="en-US" sz="1000" dirty="0">
                <a:solidFill>
                  <a:srgbClr val="5B6B7A"/>
                </a:solidFill>
                <a:latin typeface="Calibri" pitchFamily="34" charset="0"/>
                <a:ea typeface="Calibri" pitchFamily="34" charset="-122"/>
                <a:cs typeface="Calibri" pitchFamily="34" charset="-120"/>
              </a:rPr>
              <a:t>112,226 ÷ 1,550,679</a:t>
            </a:r>
            <a:endParaRPr lang="en-US" sz="1000" dirty="0"/>
          </a:p>
        </p:txBody>
      </p:sp>
      <p:sp>
        <p:nvSpPr>
          <p:cNvPr id="14" name="wm2"/>
          <p:cNvSpPr/>
          <p:nvPr/>
        </p:nvSpPr>
        <p:spPr>
          <a:xfrm>
            <a:off x="7269480" y="2514600"/>
            <a:ext cx="2103120" cy="1234440"/>
          </a:xfrm>
          <a:prstGeom prst="roundRect">
            <a:avLst>
              <a:gd name="adj" fmla="val 5926"/>
            </a:avLst>
          </a:prstGeom>
          <a:solidFill>
            <a:srgbClr val="EEF2F4"/>
          </a:solidFill>
          <a:ln w="12700">
            <a:solidFill>
              <a:srgbClr val="EEF2F4"/>
            </a:solidFill>
            <a:prstDash val="solid"/>
          </a:ln>
        </p:spPr>
        <p:txBody>
          <a:bodyPr/>
          <a:lstStyle/>
          <a:p>
            <a:endParaRPr lang="en-AE"/>
          </a:p>
        </p:txBody>
      </p:sp>
      <p:sp>
        <p:nvSpPr>
          <p:cNvPr id="15" name="Text 12"/>
          <p:cNvSpPr txBox="1"/>
          <p:nvPr/>
        </p:nvSpPr>
        <p:spPr>
          <a:xfrm>
            <a:off x="7406640" y="2606040"/>
            <a:ext cx="1828800" cy="457200"/>
          </a:xfrm>
          <a:prstGeom prst="rect">
            <a:avLst/>
          </a:prstGeom>
          <a:noFill/>
          <a:ln/>
        </p:spPr>
        <p:txBody>
          <a:bodyPr wrap="square" lIns="0" tIns="0" rIns="0" bIns="0" rtlCol="0" anchor="t"/>
          <a:lstStyle/>
          <a:p>
            <a:pPr marL="0" indent="0">
              <a:buNone/>
            </a:pPr>
            <a:r>
              <a:rPr lang="en-US" sz="2400" b="1" dirty="0">
                <a:solidFill>
                  <a:srgbClr val="5B6B7A"/>
                </a:solidFill>
                <a:latin typeface="Cambria" pitchFamily="34" charset="0"/>
                <a:ea typeface="Cambria" pitchFamily="34" charset="-122"/>
                <a:cs typeface="Cambria" pitchFamily="34" charset="-120"/>
              </a:rPr>
              <a:t>11.28%</a:t>
            </a:r>
            <a:endParaRPr lang="en-US" sz="2400" dirty="0"/>
          </a:p>
        </p:txBody>
      </p:sp>
      <p:sp>
        <p:nvSpPr>
          <p:cNvPr id="16" name="Text 13"/>
          <p:cNvSpPr txBox="1"/>
          <p:nvPr/>
        </p:nvSpPr>
        <p:spPr>
          <a:xfrm>
            <a:off x="7406640" y="3081528"/>
            <a:ext cx="1874520" cy="274320"/>
          </a:xfrm>
          <a:prstGeom prst="rect">
            <a:avLst/>
          </a:prstGeom>
          <a:noFill/>
          <a:ln/>
        </p:spPr>
        <p:txBody>
          <a:bodyPr wrap="square" lIns="0" tIns="0" rIns="0" bIns="0" rtlCol="0" anchor="t"/>
          <a:lstStyle/>
          <a:p>
            <a:pPr marL="0" indent="0">
              <a:buNone/>
            </a:pPr>
            <a:r>
              <a:rPr lang="en-US" sz="1150" b="1" dirty="0">
                <a:solidFill>
                  <a:srgbClr val="1B2430"/>
                </a:solidFill>
                <a:latin typeface="Calibri" pitchFamily="34" charset="0"/>
                <a:ea typeface="Calibri" pitchFamily="34" charset="-122"/>
                <a:cs typeface="Calibri" pitchFamily="34" charset="-120"/>
              </a:rPr>
              <a:t>Daily intl. stay model</a:t>
            </a:r>
            <a:endParaRPr lang="en-US" sz="1150" dirty="0"/>
          </a:p>
        </p:txBody>
      </p:sp>
      <p:sp>
        <p:nvSpPr>
          <p:cNvPr id="17" name="Text 14"/>
          <p:cNvSpPr txBox="1"/>
          <p:nvPr/>
        </p:nvSpPr>
        <p:spPr>
          <a:xfrm>
            <a:off x="7406640" y="3355848"/>
            <a:ext cx="1874520" cy="274320"/>
          </a:xfrm>
          <a:prstGeom prst="rect">
            <a:avLst/>
          </a:prstGeom>
          <a:noFill/>
          <a:ln/>
        </p:spPr>
        <p:txBody>
          <a:bodyPr wrap="square" lIns="0" tIns="0" rIns="0" bIns="0" rtlCol="0" anchor="t"/>
          <a:lstStyle/>
          <a:p>
            <a:pPr marL="0" indent="0">
              <a:buNone/>
            </a:pPr>
            <a:r>
              <a:rPr lang="en-US" sz="1000" dirty="0">
                <a:solidFill>
                  <a:srgbClr val="5B6B7A"/>
                </a:solidFill>
                <a:latin typeface="Calibri" pitchFamily="34" charset="0"/>
                <a:ea typeface="Calibri" pitchFamily="34" charset="-122"/>
                <a:cs typeface="Calibri" pitchFamily="34" charset="-120"/>
              </a:rPr>
              <a:t>4,138 rows, May–Jul 2025</a:t>
            </a:r>
            <a:endParaRPr lang="en-US" sz="1000" dirty="0"/>
          </a:p>
        </p:txBody>
      </p:sp>
      <p:sp>
        <p:nvSpPr>
          <p:cNvPr id="18" name="wm3"/>
          <p:cNvSpPr/>
          <p:nvPr/>
        </p:nvSpPr>
        <p:spPr>
          <a:xfrm>
            <a:off x="9509760" y="2514600"/>
            <a:ext cx="2103120" cy="1234440"/>
          </a:xfrm>
          <a:prstGeom prst="roundRect">
            <a:avLst>
              <a:gd name="adj" fmla="val 5926"/>
            </a:avLst>
          </a:prstGeom>
          <a:solidFill>
            <a:srgbClr val="EEF2F4"/>
          </a:solidFill>
          <a:ln w="12700">
            <a:solidFill>
              <a:srgbClr val="EEF2F4"/>
            </a:solidFill>
            <a:prstDash val="solid"/>
          </a:ln>
        </p:spPr>
        <p:txBody>
          <a:bodyPr/>
          <a:lstStyle/>
          <a:p>
            <a:endParaRPr lang="en-AE"/>
          </a:p>
        </p:txBody>
      </p:sp>
      <p:sp>
        <p:nvSpPr>
          <p:cNvPr id="19" name="Text 16"/>
          <p:cNvSpPr txBox="1"/>
          <p:nvPr/>
        </p:nvSpPr>
        <p:spPr>
          <a:xfrm>
            <a:off x="9646920" y="2606040"/>
            <a:ext cx="1828800" cy="457200"/>
          </a:xfrm>
          <a:prstGeom prst="rect">
            <a:avLst/>
          </a:prstGeom>
          <a:noFill/>
          <a:ln/>
        </p:spPr>
        <p:txBody>
          <a:bodyPr wrap="square" lIns="0" tIns="0" rIns="0" bIns="0" rtlCol="0" anchor="t"/>
          <a:lstStyle/>
          <a:p>
            <a:pPr marL="0" indent="0">
              <a:buNone/>
            </a:pPr>
            <a:r>
              <a:rPr lang="en-US" sz="2400" b="1" dirty="0">
                <a:solidFill>
                  <a:srgbClr val="5B6B7A"/>
                </a:solidFill>
                <a:latin typeface="Cambria" pitchFamily="34" charset="0"/>
                <a:ea typeface="Cambria" pitchFamily="34" charset="-122"/>
                <a:cs typeface="Cambria" pitchFamily="34" charset="-120"/>
              </a:rPr>
              <a:t>8.52%</a:t>
            </a:r>
            <a:endParaRPr lang="en-US" sz="2400" dirty="0"/>
          </a:p>
        </p:txBody>
      </p:sp>
      <p:sp>
        <p:nvSpPr>
          <p:cNvPr id="20" name="Text 17"/>
          <p:cNvSpPr txBox="1"/>
          <p:nvPr/>
        </p:nvSpPr>
        <p:spPr>
          <a:xfrm>
            <a:off x="9646920" y="3081528"/>
            <a:ext cx="1874520" cy="274320"/>
          </a:xfrm>
          <a:prstGeom prst="rect">
            <a:avLst/>
          </a:prstGeom>
          <a:noFill/>
          <a:ln/>
        </p:spPr>
        <p:txBody>
          <a:bodyPr wrap="square" lIns="0" tIns="0" rIns="0" bIns="0" rtlCol="0" anchor="t"/>
          <a:lstStyle/>
          <a:p>
            <a:pPr marL="0" indent="0">
              <a:buNone/>
            </a:pPr>
            <a:r>
              <a:rPr lang="en-US" sz="1150" b="1" dirty="0">
                <a:solidFill>
                  <a:srgbClr val="1B2430"/>
                </a:solidFill>
                <a:latin typeface="Calibri" pitchFamily="34" charset="0"/>
                <a:ea typeface="Calibri" pitchFamily="34" charset="-122"/>
                <a:cs typeface="Calibri" pitchFamily="34" charset="-120"/>
              </a:rPr>
              <a:t>Daily domestic stay model</a:t>
            </a:r>
            <a:endParaRPr lang="en-US" sz="1150" dirty="0"/>
          </a:p>
        </p:txBody>
      </p:sp>
      <p:sp>
        <p:nvSpPr>
          <p:cNvPr id="21" name="Text 18"/>
          <p:cNvSpPr txBox="1"/>
          <p:nvPr/>
        </p:nvSpPr>
        <p:spPr>
          <a:xfrm>
            <a:off x="9646920" y="3355848"/>
            <a:ext cx="1874520" cy="274320"/>
          </a:xfrm>
          <a:prstGeom prst="rect">
            <a:avLst/>
          </a:prstGeom>
          <a:noFill/>
          <a:ln/>
        </p:spPr>
        <p:txBody>
          <a:bodyPr wrap="square" lIns="0" tIns="0" rIns="0" bIns="0" rtlCol="0" anchor="t"/>
          <a:lstStyle/>
          <a:p>
            <a:pPr marL="0" indent="0">
              <a:buNone/>
            </a:pPr>
            <a:r>
              <a:rPr lang="en-US" sz="1000" dirty="0">
                <a:solidFill>
                  <a:srgbClr val="5B6B7A"/>
                </a:solidFill>
                <a:latin typeface="Calibri" pitchFamily="34" charset="0"/>
                <a:ea typeface="Calibri" pitchFamily="34" charset="-122"/>
                <a:cs typeface="Calibri" pitchFamily="34" charset="-120"/>
              </a:rPr>
              <a:t>separate domestic test</a:t>
            </a:r>
            <a:endParaRPr lang="en-US" sz="1000" dirty="0"/>
          </a:p>
        </p:txBody>
      </p:sp>
      <p:sp>
        <p:nvSpPr>
          <p:cNvPr id="22" name="Text 19"/>
          <p:cNvSpPr txBox="1"/>
          <p:nvPr/>
        </p:nvSpPr>
        <p:spPr>
          <a:xfrm>
            <a:off x="7269480" y="3977640"/>
            <a:ext cx="4389120" cy="274320"/>
          </a:xfrm>
          <a:prstGeom prst="rect">
            <a:avLst/>
          </a:prstGeom>
          <a:noFill/>
          <a:ln/>
        </p:spPr>
        <p:txBody>
          <a:bodyPr wrap="square" lIns="0" tIns="0" rIns="0" bIns="0" rtlCol="0" anchor="t"/>
          <a:lstStyle/>
          <a:p>
            <a:pPr marL="0" indent="0">
              <a:buNone/>
            </a:pPr>
            <a:r>
              <a:rPr lang="en-US" sz="1100" b="1" kern="0" spc="100" dirty="0">
                <a:solidFill>
                  <a:srgbClr val="0E7C86"/>
                </a:solidFill>
                <a:latin typeface="Calibri" pitchFamily="34" charset="0"/>
                <a:ea typeface="Calibri" pitchFamily="34" charset="-122"/>
                <a:cs typeface="Calibri" pitchFamily="34" charset="-120"/>
              </a:rPr>
              <a:t>THE MACHINE-LEARNING LAYER</a:t>
            </a:r>
            <a:endParaRPr lang="en-US" sz="1100" dirty="0"/>
          </a:p>
        </p:txBody>
      </p:sp>
      <p:sp>
        <p:nvSpPr>
          <p:cNvPr id="23" name="Text 20"/>
          <p:cNvSpPr txBox="1"/>
          <p:nvPr/>
        </p:nvSpPr>
        <p:spPr>
          <a:xfrm>
            <a:off x="7269480" y="4297680"/>
            <a:ext cx="4434840" cy="2011680"/>
          </a:xfrm>
          <a:prstGeom prst="rect">
            <a:avLst/>
          </a:prstGeom>
          <a:noFill/>
          <a:ln/>
        </p:spPr>
        <p:txBody>
          <a:bodyPr wrap="square" lIns="0" tIns="0" rIns="0" bIns="0" rtlCol="0" anchor="t"/>
          <a:lstStyle/>
          <a:p>
            <a:pPr marL="0" indent="0">
              <a:spcAft>
                <a:spcPts val="400"/>
              </a:spcAft>
              <a:buNone/>
            </a:pPr>
            <a:r>
              <a:rPr lang="en-US" sz="1200" b="1" dirty="0">
                <a:solidFill>
                  <a:srgbClr val="1B2430"/>
                </a:solidFill>
                <a:latin typeface="Calibri" pitchFamily="34" charset="0"/>
                <a:ea typeface="Calibri" pitchFamily="34" charset="-122"/>
                <a:cs typeface="Calibri" pitchFamily="34" charset="-120"/>
              </a:rPr>
              <a:t>Ridge regression </a:t>
            </a:r>
            <a:r>
              <a:rPr lang="en-US" sz="1200" dirty="0">
                <a:solidFill>
                  <a:srgbClr val="1B2430"/>
                </a:solidFill>
                <a:latin typeface="Calibri" pitchFamily="34" charset="0"/>
                <a:ea typeface="Calibri" pitchFamily="34" charset="-122"/>
                <a:cs typeface="Calibri" pitchFamily="34" charset="-120"/>
              </a:rPr>
              <a:t>(regression with a stability penalty; features standardised, intercept not penalised)</a:t>
            </a:r>
            <a:endParaRPr lang="en-US" sz="1200" dirty="0"/>
          </a:p>
          <a:p>
            <a:pPr marL="0" indent="0">
              <a:spcAft>
                <a:spcPts val="400"/>
              </a:spcAft>
              <a:buNone/>
            </a:pPr>
            <a:r>
              <a:rPr lang="en-US" sz="1200" b="1" dirty="0">
                <a:solidFill>
                  <a:srgbClr val="1B2430"/>
                </a:solidFill>
                <a:latin typeface="Calibri" pitchFamily="34" charset="0"/>
                <a:ea typeface="Calibri" pitchFamily="34" charset="-122"/>
                <a:cs typeface="Calibri" pitchFamily="34" charset="-120"/>
              </a:rPr>
              <a:t>Features: </a:t>
            </a:r>
            <a:r>
              <a:rPr lang="en-US" sz="1200" dirty="0">
                <a:solidFill>
                  <a:srgbClr val="1B2430"/>
                </a:solidFill>
                <a:latin typeface="Calibri" pitchFamily="34" charset="0"/>
                <a:ea typeface="Calibri" pitchFamily="34" charset="-122"/>
                <a:cs typeface="Calibri" pitchFamily="34" charset="-120"/>
              </a:rPr>
              <a:t>log P2P, log seats, load factor, P2P share, month sine/cosine, time trend</a:t>
            </a:r>
            <a:endParaRPr lang="en-US" sz="1200" dirty="0"/>
          </a:p>
          <a:p>
            <a:pPr marL="0" indent="0">
              <a:spcAft>
                <a:spcPts val="400"/>
              </a:spcAft>
              <a:buNone/>
            </a:pPr>
            <a:r>
              <a:rPr lang="en-US" sz="1200" b="1" dirty="0">
                <a:solidFill>
                  <a:srgbClr val="1B2430"/>
                </a:solidFill>
                <a:latin typeface="Calibri" pitchFamily="34" charset="0"/>
                <a:ea typeface="Calibri" pitchFamily="34" charset="-122"/>
                <a:cs typeface="Calibri" pitchFamily="34" charset="-120"/>
              </a:rPr>
              <a:t>Decision: </a:t>
            </a:r>
            <a:r>
              <a:rPr lang="en-US" sz="1200" dirty="0">
                <a:solidFill>
                  <a:srgbClr val="1B2430"/>
                </a:solidFill>
                <a:latin typeface="Calibri" pitchFamily="34" charset="0"/>
                <a:ea typeface="Calibri" pitchFamily="34" charset="-122"/>
                <a:cs typeface="Calibri" pitchFamily="34" charset="-120"/>
              </a:rPr>
              <a:t>the hybrid scored worse, so the transparent chain is the engine. The hybrid is kept as evidence.</a:t>
            </a:r>
            <a:endParaRPr lang="en-US" sz="12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7A"/>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11247120" cy="685800"/>
          </a:xfrm>
          <a:prstGeom prst="rect">
            <a:avLst/>
          </a:prstGeom>
          <a:noFill/>
          <a:ln/>
        </p:spPr>
        <p:txBody>
          <a:bodyPr wrap="square" lIns="0" tIns="0" rIns="0" bIns="0" rtlCol="0" anchor="ctr"/>
          <a:lstStyle/>
          <a:p>
            <a:pPr marL="0" indent="0" algn="l">
              <a:buNone/>
            </a:pPr>
            <a:r>
              <a:rPr lang="en-US" sz="2800" b="1" dirty="0">
                <a:solidFill>
                  <a:srgbClr val="0E3B4A"/>
                </a:solidFill>
                <a:latin typeface="Cambria" pitchFamily="34" charset="0"/>
                <a:ea typeface="Cambria" pitchFamily="34" charset="-122"/>
                <a:cs typeface="Cambria" pitchFamily="34" charset="-120"/>
              </a:rPr>
              <a:t>Ranges, sensitivity and data support show what to trust</a:t>
            </a:r>
            <a:endParaRPr lang="en-US" sz="2800" dirty="0"/>
          </a:p>
        </p:txBody>
      </p:sp>
      <p:sp>
        <p:nvSpPr>
          <p:cNvPr id="3" name="Text 1"/>
          <p:cNvSpPr txBox="1"/>
          <p:nvPr/>
        </p:nvSpPr>
        <p:spPr>
          <a:xfrm>
            <a:off x="457200" y="1097280"/>
            <a:ext cx="5669280" cy="274320"/>
          </a:xfrm>
          <a:prstGeom prst="rect">
            <a:avLst/>
          </a:prstGeom>
          <a:noFill/>
          <a:ln/>
        </p:spPr>
        <p:txBody>
          <a:bodyPr wrap="square" lIns="0" tIns="0" rIns="0" bIns="0" rtlCol="0" anchor="t"/>
          <a:lstStyle/>
          <a:p>
            <a:pPr marL="0" indent="0">
              <a:buNone/>
            </a:pPr>
            <a:r>
              <a:rPr lang="en-US" sz="1100" b="1" kern="0" spc="100" dirty="0">
                <a:solidFill>
                  <a:srgbClr val="0E7C86"/>
                </a:solidFill>
                <a:latin typeface="Calibri" pitchFamily="34" charset="0"/>
                <a:ea typeface="Calibri" pitchFamily="34" charset="-122"/>
                <a:cs typeface="Calibri" pitchFamily="34" charset="-120"/>
              </a:rPr>
              <a:t>P10 / P50 / P90, INDIA DECEMBER TOTAL GUEST NIGHTS</a:t>
            </a:r>
            <a:endParaRPr lang="en-US" sz="1100" dirty="0"/>
          </a:p>
        </p:txBody>
      </p:sp>
      <p:sp>
        <p:nvSpPr>
          <p:cNvPr id="4" name="lane0"/>
          <p:cNvSpPr/>
          <p:nvPr/>
        </p:nvSpPr>
        <p:spPr>
          <a:xfrm>
            <a:off x="457200" y="1417320"/>
            <a:ext cx="1783080" cy="1325880"/>
          </a:xfrm>
          <a:prstGeom prst="roundRect">
            <a:avLst>
              <a:gd name="adj" fmla="val 5517"/>
            </a:avLst>
          </a:prstGeom>
          <a:solidFill>
            <a:srgbClr val="EEF2F4"/>
          </a:solidFill>
          <a:ln w="12700">
            <a:solidFill>
              <a:srgbClr val="EEF2F4"/>
            </a:solidFill>
            <a:prstDash val="solid"/>
          </a:ln>
        </p:spPr>
        <p:txBody>
          <a:bodyPr/>
          <a:lstStyle/>
          <a:p>
            <a:endParaRPr lang="en-AE"/>
          </a:p>
        </p:txBody>
      </p:sp>
      <p:sp>
        <p:nvSpPr>
          <p:cNvPr id="5" name="Text 3"/>
          <p:cNvSpPr txBox="1"/>
          <p:nvPr/>
        </p:nvSpPr>
        <p:spPr>
          <a:xfrm>
            <a:off x="594360" y="1490472"/>
            <a:ext cx="1463040" cy="274320"/>
          </a:xfrm>
          <a:prstGeom prst="rect">
            <a:avLst/>
          </a:prstGeom>
          <a:noFill/>
          <a:ln/>
        </p:spPr>
        <p:txBody>
          <a:bodyPr wrap="square" lIns="0" tIns="0" rIns="0" bIns="0" rtlCol="0" anchor="t"/>
          <a:lstStyle/>
          <a:p>
            <a:pPr marL="0" indent="0">
              <a:buNone/>
            </a:pPr>
            <a:r>
              <a:rPr lang="en-US" sz="1300" b="1" dirty="0">
                <a:solidFill>
                  <a:srgbClr val="D4A03A"/>
                </a:solidFill>
                <a:latin typeface="Calibri" pitchFamily="34" charset="0"/>
                <a:ea typeface="Calibri" pitchFamily="34" charset="-122"/>
                <a:cs typeface="Calibri" pitchFamily="34" charset="-120"/>
              </a:rPr>
              <a:t>P10</a:t>
            </a:r>
            <a:endParaRPr lang="en-US" sz="1300" dirty="0"/>
          </a:p>
        </p:txBody>
      </p:sp>
      <p:sp>
        <p:nvSpPr>
          <p:cNvPr id="6" name="Text 4"/>
          <p:cNvSpPr txBox="1"/>
          <p:nvPr/>
        </p:nvSpPr>
        <p:spPr>
          <a:xfrm>
            <a:off x="594360" y="1764792"/>
            <a:ext cx="1600200" cy="411480"/>
          </a:xfrm>
          <a:prstGeom prst="rect">
            <a:avLst/>
          </a:prstGeom>
          <a:noFill/>
          <a:ln/>
        </p:spPr>
        <p:txBody>
          <a:bodyPr wrap="square" lIns="0" tIns="0" rIns="0" bIns="0" rtlCol="0" anchor="t"/>
          <a:lstStyle/>
          <a:p>
            <a:pPr marL="0" indent="0">
              <a:buNone/>
            </a:pPr>
            <a:r>
              <a:rPr lang="en-US" sz="2100" b="1" dirty="0">
                <a:solidFill>
                  <a:srgbClr val="0E3B4A"/>
                </a:solidFill>
                <a:latin typeface="Cambria" pitchFamily="34" charset="0"/>
                <a:ea typeface="Cambria" pitchFamily="34" charset="-122"/>
                <a:cs typeface="Cambria" pitchFamily="34" charset="-120"/>
              </a:rPr>
              <a:t>219,185</a:t>
            </a:r>
            <a:endParaRPr lang="en-US" sz="2100" dirty="0"/>
          </a:p>
        </p:txBody>
      </p:sp>
      <p:sp>
        <p:nvSpPr>
          <p:cNvPr id="7" name="Text 5"/>
          <p:cNvSpPr txBox="1"/>
          <p:nvPr/>
        </p:nvSpPr>
        <p:spPr>
          <a:xfrm>
            <a:off x="594360" y="2194560"/>
            <a:ext cx="1554480" cy="457200"/>
          </a:xfrm>
          <a:prstGeom prst="rect">
            <a:avLst/>
          </a:prstGeom>
          <a:noFill/>
          <a:ln/>
        </p:spPr>
        <p:txBody>
          <a:bodyPr wrap="square" lIns="0" tIns="0" rIns="0" bIns="0" rtlCol="0" anchor="t"/>
          <a:lstStyle/>
          <a:p>
            <a:pPr marL="0" indent="0">
              <a:buNone/>
            </a:pPr>
            <a:r>
              <a:rPr lang="en-US" sz="1050" dirty="0">
                <a:solidFill>
                  <a:srgbClr val="5B6B7A"/>
                </a:solidFill>
                <a:latin typeface="Calibri" pitchFamily="34" charset="0"/>
                <a:ea typeface="Calibri" pitchFamily="34" charset="-122"/>
                <a:cs typeface="Calibri" pitchFamily="34" charset="-120"/>
              </a:rPr>
              <a:t>× 0.9026 · cautious lane</a:t>
            </a:r>
            <a:endParaRPr lang="en-US" sz="1050" dirty="0"/>
          </a:p>
        </p:txBody>
      </p:sp>
      <p:sp>
        <p:nvSpPr>
          <p:cNvPr id="8" name="lane1"/>
          <p:cNvSpPr/>
          <p:nvPr/>
        </p:nvSpPr>
        <p:spPr>
          <a:xfrm>
            <a:off x="2377440" y="1417320"/>
            <a:ext cx="1783080" cy="1325880"/>
          </a:xfrm>
          <a:prstGeom prst="roundRect">
            <a:avLst>
              <a:gd name="adj" fmla="val 5517"/>
            </a:avLst>
          </a:prstGeom>
          <a:solidFill>
            <a:srgbClr val="E3F1F2"/>
          </a:solidFill>
          <a:ln w="12700">
            <a:solidFill>
              <a:srgbClr val="E3F1F2"/>
            </a:solidFill>
            <a:prstDash val="solid"/>
          </a:ln>
        </p:spPr>
        <p:txBody>
          <a:bodyPr/>
          <a:lstStyle/>
          <a:p>
            <a:endParaRPr lang="en-AE"/>
          </a:p>
        </p:txBody>
      </p:sp>
      <p:sp>
        <p:nvSpPr>
          <p:cNvPr id="9" name="Text 7"/>
          <p:cNvSpPr txBox="1"/>
          <p:nvPr/>
        </p:nvSpPr>
        <p:spPr>
          <a:xfrm>
            <a:off x="2514600" y="1490472"/>
            <a:ext cx="1463040" cy="274320"/>
          </a:xfrm>
          <a:prstGeom prst="rect">
            <a:avLst/>
          </a:prstGeom>
          <a:noFill/>
          <a:ln/>
        </p:spPr>
        <p:txBody>
          <a:bodyPr wrap="square" lIns="0" tIns="0" rIns="0" bIns="0" rtlCol="0" anchor="t"/>
          <a:lstStyle/>
          <a:p>
            <a:pPr marL="0" indent="0">
              <a:buNone/>
            </a:pPr>
            <a:r>
              <a:rPr lang="en-US" sz="1300" b="1" dirty="0">
                <a:solidFill>
                  <a:srgbClr val="D4A03A"/>
                </a:solidFill>
                <a:latin typeface="Calibri" pitchFamily="34" charset="0"/>
                <a:ea typeface="Calibri" pitchFamily="34" charset="-122"/>
                <a:cs typeface="Calibri" pitchFamily="34" charset="-120"/>
              </a:rPr>
              <a:t>P50</a:t>
            </a:r>
            <a:endParaRPr lang="en-US" sz="1300" dirty="0"/>
          </a:p>
        </p:txBody>
      </p:sp>
      <p:sp>
        <p:nvSpPr>
          <p:cNvPr id="10" name="Text 8"/>
          <p:cNvSpPr txBox="1"/>
          <p:nvPr/>
        </p:nvSpPr>
        <p:spPr>
          <a:xfrm>
            <a:off x="2514600" y="1764792"/>
            <a:ext cx="1600200" cy="411480"/>
          </a:xfrm>
          <a:prstGeom prst="rect">
            <a:avLst/>
          </a:prstGeom>
          <a:noFill/>
          <a:ln/>
        </p:spPr>
        <p:txBody>
          <a:bodyPr wrap="square" lIns="0" tIns="0" rIns="0" bIns="0" rtlCol="0" anchor="t"/>
          <a:lstStyle/>
          <a:p>
            <a:pPr marL="0" indent="0">
              <a:buNone/>
            </a:pPr>
            <a:r>
              <a:rPr lang="en-US" sz="2100" b="1" dirty="0">
                <a:solidFill>
                  <a:srgbClr val="0E3B4A"/>
                </a:solidFill>
                <a:latin typeface="Cambria" pitchFamily="34" charset="0"/>
                <a:ea typeface="Cambria" pitchFamily="34" charset="-122"/>
                <a:cs typeface="Cambria" pitchFamily="34" charset="-120"/>
              </a:rPr>
              <a:t>242,838</a:t>
            </a:r>
            <a:endParaRPr lang="en-US" sz="2100" dirty="0"/>
          </a:p>
        </p:txBody>
      </p:sp>
      <p:sp>
        <p:nvSpPr>
          <p:cNvPr id="11" name="Text 9"/>
          <p:cNvSpPr txBox="1"/>
          <p:nvPr/>
        </p:nvSpPr>
        <p:spPr>
          <a:xfrm>
            <a:off x="2514600" y="2194560"/>
            <a:ext cx="1554480" cy="457200"/>
          </a:xfrm>
          <a:prstGeom prst="rect">
            <a:avLst/>
          </a:prstGeom>
          <a:noFill/>
          <a:ln/>
        </p:spPr>
        <p:txBody>
          <a:bodyPr wrap="square" lIns="0" tIns="0" rIns="0" bIns="0" rtlCol="0" anchor="t"/>
          <a:lstStyle/>
          <a:p>
            <a:pPr marL="0" indent="0">
              <a:buNone/>
            </a:pPr>
            <a:r>
              <a:rPr lang="en-US" sz="1050" dirty="0">
                <a:solidFill>
                  <a:srgbClr val="5B6B7A"/>
                </a:solidFill>
                <a:latin typeface="Calibri" pitchFamily="34" charset="0"/>
                <a:ea typeface="Calibri" pitchFamily="34" charset="-122"/>
                <a:cs typeface="Calibri" pitchFamily="34" charset="-120"/>
              </a:rPr>
              <a:t>× 1 · central formula result</a:t>
            </a:r>
            <a:endParaRPr lang="en-US" sz="1050" dirty="0"/>
          </a:p>
        </p:txBody>
      </p:sp>
      <p:sp>
        <p:nvSpPr>
          <p:cNvPr id="12" name="lane2"/>
          <p:cNvSpPr/>
          <p:nvPr/>
        </p:nvSpPr>
        <p:spPr>
          <a:xfrm>
            <a:off x="4297680" y="1417320"/>
            <a:ext cx="1783080" cy="1325880"/>
          </a:xfrm>
          <a:prstGeom prst="roundRect">
            <a:avLst>
              <a:gd name="adj" fmla="val 5517"/>
            </a:avLst>
          </a:prstGeom>
          <a:solidFill>
            <a:srgbClr val="EEF2F4"/>
          </a:solidFill>
          <a:ln w="12700">
            <a:solidFill>
              <a:srgbClr val="EEF2F4"/>
            </a:solidFill>
            <a:prstDash val="solid"/>
          </a:ln>
        </p:spPr>
        <p:txBody>
          <a:bodyPr/>
          <a:lstStyle/>
          <a:p>
            <a:endParaRPr lang="en-AE"/>
          </a:p>
        </p:txBody>
      </p:sp>
      <p:sp>
        <p:nvSpPr>
          <p:cNvPr id="13" name="Text 11"/>
          <p:cNvSpPr txBox="1"/>
          <p:nvPr/>
        </p:nvSpPr>
        <p:spPr>
          <a:xfrm>
            <a:off x="4434840" y="1490472"/>
            <a:ext cx="1463040" cy="274320"/>
          </a:xfrm>
          <a:prstGeom prst="rect">
            <a:avLst/>
          </a:prstGeom>
          <a:noFill/>
          <a:ln/>
        </p:spPr>
        <p:txBody>
          <a:bodyPr wrap="square" lIns="0" tIns="0" rIns="0" bIns="0" rtlCol="0" anchor="t"/>
          <a:lstStyle/>
          <a:p>
            <a:pPr marL="0" indent="0">
              <a:buNone/>
            </a:pPr>
            <a:r>
              <a:rPr lang="en-US" sz="1300" b="1" dirty="0">
                <a:solidFill>
                  <a:srgbClr val="D4A03A"/>
                </a:solidFill>
                <a:latin typeface="Calibri" pitchFamily="34" charset="0"/>
                <a:ea typeface="Calibri" pitchFamily="34" charset="-122"/>
                <a:cs typeface="Calibri" pitchFamily="34" charset="-120"/>
              </a:rPr>
              <a:t>P90</a:t>
            </a:r>
            <a:endParaRPr lang="en-US" sz="1300" dirty="0"/>
          </a:p>
        </p:txBody>
      </p:sp>
      <p:sp>
        <p:nvSpPr>
          <p:cNvPr id="14" name="Text 12"/>
          <p:cNvSpPr txBox="1"/>
          <p:nvPr/>
        </p:nvSpPr>
        <p:spPr>
          <a:xfrm>
            <a:off x="4434840" y="1764792"/>
            <a:ext cx="1600200" cy="411480"/>
          </a:xfrm>
          <a:prstGeom prst="rect">
            <a:avLst/>
          </a:prstGeom>
          <a:noFill/>
          <a:ln/>
        </p:spPr>
        <p:txBody>
          <a:bodyPr wrap="square" lIns="0" tIns="0" rIns="0" bIns="0" rtlCol="0" anchor="t"/>
          <a:lstStyle/>
          <a:p>
            <a:pPr marL="0" indent="0">
              <a:buNone/>
            </a:pPr>
            <a:r>
              <a:rPr lang="en-US" sz="2100" b="1" dirty="0">
                <a:solidFill>
                  <a:srgbClr val="0E3B4A"/>
                </a:solidFill>
                <a:latin typeface="Cambria" pitchFamily="34" charset="0"/>
                <a:ea typeface="Cambria" pitchFamily="34" charset="-122"/>
                <a:cs typeface="Cambria" pitchFamily="34" charset="-120"/>
              </a:rPr>
              <a:t>260,006</a:t>
            </a:r>
            <a:endParaRPr lang="en-US" sz="2100" dirty="0"/>
          </a:p>
        </p:txBody>
      </p:sp>
      <p:sp>
        <p:nvSpPr>
          <p:cNvPr id="15" name="Text 13"/>
          <p:cNvSpPr txBox="1"/>
          <p:nvPr/>
        </p:nvSpPr>
        <p:spPr>
          <a:xfrm>
            <a:off x="4434840" y="2194560"/>
            <a:ext cx="1554480" cy="457200"/>
          </a:xfrm>
          <a:prstGeom prst="rect">
            <a:avLst/>
          </a:prstGeom>
          <a:noFill/>
          <a:ln/>
        </p:spPr>
        <p:txBody>
          <a:bodyPr wrap="square" lIns="0" tIns="0" rIns="0" bIns="0" rtlCol="0" anchor="t"/>
          <a:lstStyle/>
          <a:p>
            <a:pPr marL="0" indent="0">
              <a:buNone/>
            </a:pPr>
            <a:r>
              <a:rPr lang="en-US" sz="1050" dirty="0">
                <a:solidFill>
                  <a:srgbClr val="5B6B7A"/>
                </a:solidFill>
                <a:latin typeface="Calibri" pitchFamily="34" charset="0"/>
                <a:ea typeface="Calibri" pitchFamily="34" charset="-122"/>
                <a:cs typeface="Calibri" pitchFamily="34" charset="-120"/>
              </a:rPr>
              <a:t>× 1.0707 · higher lane</a:t>
            </a:r>
            <a:endParaRPr lang="en-US" sz="1050" dirty="0"/>
          </a:p>
        </p:txBody>
      </p:sp>
      <p:sp>
        <p:nvSpPr>
          <p:cNvPr id="16" name="Text 14"/>
          <p:cNvSpPr txBox="1"/>
          <p:nvPr/>
        </p:nvSpPr>
        <p:spPr>
          <a:xfrm>
            <a:off x="457200" y="2834640"/>
            <a:ext cx="5669280" cy="868680"/>
          </a:xfrm>
          <a:prstGeom prst="rect">
            <a:avLst/>
          </a:prstGeom>
          <a:noFill/>
          <a:ln/>
        </p:spPr>
        <p:txBody>
          <a:bodyPr wrap="square" lIns="0" tIns="0" rIns="0" bIns="0" rtlCol="0" anchor="t"/>
          <a:lstStyle/>
          <a:p>
            <a:pPr marL="0" indent="0">
              <a:buNone/>
            </a:pPr>
            <a:r>
              <a:rPr lang="en-US" sz="1150" dirty="0">
                <a:solidFill>
                  <a:srgbClr val="1B2430"/>
                </a:solidFill>
                <a:latin typeface="Calibri" pitchFamily="34" charset="0"/>
                <a:ea typeface="Calibri" pitchFamily="34" charset="-122"/>
                <a:cs typeface="Calibri" pitchFamily="34" charset="-120"/>
              </a:rPr>
              <a:t>Multipliers are the 10th and 90th percentiles of actual ÷ hybrid ratios over the 7 validation months. P50 does not mean “50% accurate”. With only 7 months these are rough planning lanes, not a calibrated probability or 95% interval.</a:t>
            </a:r>
            <a:endParaRPr lang="en-US" sz="1150" dirty="0"/>
          </a:p>
        </p:txBody>
      </p:sp>
      <p:sp>
        <p:nvSpPr>
          <p:cNvPr id="17" name="Text 15"/>
          <p:cNvSpPr txBox="1"/>
          <p:nvPr/>
        </p:nvSpPr>
        <p:spPr>
          <a:xfrm>
            <a:off x="457200" y="3840480"/>
            <a:ext cx="5669280" cy="274320"/>
          </a:xfrm>
          <a:prstGeom prst="rect">
            <a:avLst/>
          </a:prstGeom>
          <a:noFill/>
          <a:ln/>
        </p:spPr>
        <p:txBody>
          <a:bodyPr wrap="square" lIns="0" tIns="0" rIns="0" bIns="0" rtlCol="0" anchor="t"/>
          <a:lstStyle/>
          <a:p>
            <a:pPr marL="0" indent="0">
              <a:buNone/>
            </a:pPr>
            <a:r>
              <a:rPr lang="en-US" sz="1100" b="1" kern="0" spc="100" dirty="0">
                <a:solidFill>
                  <a:srgbClr val="0E7C86"/>
                </a:solidFill>
                <a:latin typeface="Calibri" pitchFamily="34" charset="0"/>
                <a:ea typeface="Calibri" pitchFamily="34" charset="-122"/>
                <a:cs typeface="Calibri" pitchFamily="34" charset="-120"/>
              </a:rPr>
              <a:t>DATA SUPPORT BADGE (EVIDENCE COVERAGE, NOT CONFIDENCE)</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4160520"/>
          <a:ext cx="5669280" cy="1181100"/>
        </p:xfrm>
        <a:graphic>
          <a:graphicData uri="http://schemas.openxmlformats.org/drawingml/2006/table">
            <a:tbl>
              <a:tblPr/>
              <a:tblGrid>
                <a:gridCol w="1005840">
                  <a:extLst>
                    <a:ext uri="{9D8B030D-6E8A-4147-A177-3AD203B41FA5}">
                      <a16:colId xmlns:a16="http://schemas.microsoft.com/office/drawing/2014/main" val="20000"/>
                    </a:ext>
                  </a:extLst>
                </a:gridCol>
                <a:gridCol w="4663440">
                  <a:extLst>
                    <a:ext uri="{9D8B030D-6E8A-4147-A177-3AD203B41FA5}">
                      <a16:colId xmlns:a16="http://schemas.microsoft.com/office/drawing/2014/main" val="20001"/>
                    </a:ext>
                  </a:extLst>
                </a:gridCol>
              </a:tblGrid>
              <a:tr h="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Badge</a:t>
                      </a:r>
                      <a:endParaRPr lang="en-US" sz="115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0E3B4A"/>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Rule for the selected country + month</a:t>
                      </a:r>
                      <a:endParaRPr lang="en-US" sz="115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0E3B4A"/>
                    </a:solidFill>
                  </a:tcPr>
                </a:tc>
                <a:extLst>
                  <a:ext uri="{0D108BD9-81ED-4DB2-BD59-A6C34878D82A}">
                    <a16:rowId xmlns:a16="http://schemas.microsoft.com/office/drawing/2014/main" val="10000"/>
                  </a:ext>
                </a:extLst>
              </a:tr>
              <a:tr h="0">
                <a:tc>
                  <a:txBody>
                    <a:bodyPr/>
                    <a:lstStyle/>
                    <a:p>
                      <a:pPr marL="0" indent="0">
                        <a:buNone/>
                      </a:pPr>
                      <a:r>
                        <a:rPr lang="en-US" sz="1150" dirty="0">
                          <a:solidFill>
                            <a:srgbClr val="1B2430"/>
                          </a:solidFill>
                          <a:latin typeface="Calibri" pitchFamily="34" charset="0"/>
                          <a:ea typeface="Calibri" pitchFamily="34" charset="-122"/>
                          <a:cs typeface="Calibri" pitchFamily="34" charset="-120"/>
                        </a:rPr>
                        <a:t>High</a:t>
                      </a:r>
                      <a:endParaRPr lang="en-US" sz="115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F5F8F9"/>
                    </a:solidFill>
                  </a:tcPr>
                </a:tc>
                <a:tc>
                  <a:txBody>
                    <a:bodyPr/>
                    <a:lstStyle/>
                    <a:p>
                      <a:pPr marL="0" indent="0">
                        <a:buNone/>
                      </a:pPr>
                      <a:r>
                        <a:rPr lang="en-US" sz="1150" dirty="0">
                          <a:solidFill>
                            <a:srgbClr val="1B2430"/>
                          </a:solidFill>
                          <a:latin typeface="Calibri" pitchFamily="34" charset="0"/>
                          <a:ea typeface="Calibri" pitchFamily="34" charset="-122"/>
                          <a:cs typeface="Calibri" pitchFamily="34" charset="-120"/>
                        </a:rPr>
                        <a:t>3 or more matching historical observations</a:t>
                      </a:r>
                      <a:endParaRPr lang="en-US" sz="115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F5F8F9"/>
                    </a:solidFill>
                  </a:tcPr>
                </a:tc>
                <a:extLst>
                  <a:ext uri="{0D108BD9-81ED-4DB2-BD59-A6C34878D82A}">
                    <a16:rowId xmlns:a16="http://schemas.microsoft.com/office/drawing/2014/main" val="10001"/>
                  </a:ext>
                </a:extLst>
              </a:tr>
              <a:tr h="0">
                <a:tc>
                  <a:txBody>
                    <a:bodyPr/>
                    <a:lstStyle/>
                    <a:p>
                      <a:pPr marL="0" indent="0">
                        <a:buNone/>
                      </a:pPr>
                      <a:r>
                        <a:rPr lang="en-US" sz="1150" dirty="0">
                          <a:solidFill>
                            <a:srgbClr val="1B2430"/>
                          </a:solidFill>
                          <a:latin typeface="Calibri" pitchFamily="34" charset="0"/>
                          <a:ea typeface="Calibri" pitchFamily="34" charset="-122"/>
                          <a:cs typeface="Calibri" pitchFamily="34" charset="-120"/>
                        </a:rPr>
                        <a:t>Medium</a:t>
                      </a:r>
                      <a:endParaRPr lang="en-US" sz="115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FFFFFF"/>
                    </a:solidFill>
                  </a:tcPr>
                </a:tc>
                <a:tc>
                  <a:txBody>
                    <a:bodyPr/>
                    <a:lstStyle/>
                    <a:p>
                      <a:pPr marL="0" indent="0">
                        <a:buNone/>
                      </a:pPr>
                      <a:r>
                        <a:rPr lang="en-US" sz="1150" dirty="0">
                          <a:solidFill>
                            <a:srgbClr val="1B2430"/>
                          </a:solidFill>
                          <a:latin typeface="Calibri" pitchFamily="34" charset="0"/>
                          <a:ea typeface="Calibri" pitchFamily="34" charset="-122"/>
                          <a:cs typeface="Calibri" pitchFamily="34" charset="-120"/>
                        </a:rPr>
                        <a:t>1 or 2 matching observations</a:t>
                      </a:r>
                      <a:endParaRPr lang="en-US" sz="115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150" dirty="0">
                          <a:solidFill>
                            <a:srgbClr val="1B2430"/>
                          </a:solidFill>
                          <a:latin typeface="Calibri" pitchFamily="34" charset="0"/>
                          <a:ea typeface="Calibri" pitchFamily="34" charset="-122"/>
                          <a:cs typeface="Calibri" pitchFamily="34" charset="-120"/>
                        </a:rPr>
                        <a:t>Low</a:t>
                      </a:r>
                      <a:endParaRPr lang="en-US" sz="115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F5F8F9"/>
                    </a:solidFill>
                  </a:tcPr>
                </a:tc>
                <a:tc>
                  <a:txBody>
                    <a:bodyPr/>
                    <a:lstStyle/>
                    <a:p>
                      <a:pPr marL="0" indent="0">
                        <a:buNone/>
                      </a:pPr>
                      <a:r>
                        <a:rPr lang="en-US" sz="1150" dirty="0">
                          <a:solidFill>
                            <a:srgbClr val="1B2430"/>
                          </a:solidFill>
                          <a:latin typeface="Calibri" pitchFamily="34" charset="0"/>
                          <a:ea typeface="Calibri" pitchFamily="34" charset="-122"/>
                          <a:cs typeface="Calibri" pitchFamily="34" charset="-120"/>
                        </a:rPr>
                        <a:t>None: fallback (zero baseline seats, overall averages, seasonal nationality mix)</a:t>
                      </a:r>
                      <a:endParaRPr lang="en-US" sz="1150" dirty="0">
                        <a:latin typeface="Calibri" charset="0"/>
                        <a:ea typeface="Calibri" charset="0"/>
                        <a:cs typeface="Calibri" charset="0"/>
                      </a:endParaRPr>
                    </a:p>
                  </a:txBody>
                  <a:tcPr marL="63500" marR="63500" marT="38100" marB="3810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rgbClr val="F5F8F9"/>
                    </a:solidFill>
                  </a:tcPr>
                </a:tc>
                <a:extLst>
                  <a:ext uri="{0D108BD9-81ED-4DB2-BD59-A6C34878D82A}">
                    <a16:rowId xmlns:a16="http://schemas.microsoft.com/office/drawing/2014/main" val="10003"/>
                  </a:ext>
                </a:extLst>
              </a:tr>
            </a:tbl>
          </a:graphicData>
        </a:graphic>
      </p:graphicFrame>
      <p:graphicFrame>
        <p:nvGraphicFramePr>
          <p:cNvPr id="19" name="Chart 0"/>
          <p:cNvGraphicFramePr/>
          <p:nvPr/>
        </p:nvGraphicFramePr>
        <p:xfrm>
          <a:off x="6400800" y="1097280"/>
          <a:ext cx="5303520"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20" name="Text 16"/>
          <p:cNvSpPr txBox="1"/>
          <p:nvPr/>
        </p:nvSpPr>
        <p:spPr>
          <a:xfrm>
            <a:off x="6400800" y="5212080"/>
            <a:ext cx="5303520" cy="1097280"/>
          </a:xfrm>
          <a:prstGeom prst="rect">
            <a:avLst/>
          </a:prstGeom>
          <a:noFill/>
          <a:ln/>
        </p:spPr>
        <p:txBody>
          <a:bodyPr wrap="square" lIns="0" tIns="0" rIns="0" bIns="0" rtlCol="0" anchor="t"/>
          <a:lstStyle/>
          <a:p>
            <a:pPr marL="0" indent="0">
              <a:buNone/>
            </a:pPr>
            <a:r>
              <a:rPr lang="en-US" sz="1150" dirty="0">
                <a:solidFill>
                  <a:srgbClr val="1B2430"/>
                </a:solidFill>
                <a:latin typeface="Calibri" pitchFamily="34" charset="0"/>
                <a:ea typeface="Calibri" pitchFamily="34" charset="-122"/>
                <a:cs typeface="Calibri" pitchFamily="34" charset="-120"/>
              </a:rPr>
              <a:t>One input moves down and up while the others stay fixed. The biggest levers are stay length and hotel conversion, not seat count, so DCT should firm up those assumptions first. This is a decision guide, not a causal claim.</a:t>
            </a:r>
            <a:endParaRPr lang="en-US" sz="1150" dirty="0"/>
          </a:p>
        </p:txBody>
      </p:sp>
      <p:sp>
        <p:nvSpPr>
          <p:cNvPr id="300" name="ImpactCard"/>
          <p:cNvSpPr/>
          <p:nvPr/>
        </p:nvSpPr>
        <p:spPr>
          <a:xfrm>
            <a:off x="457200" y="5440680"/>
            <a:ext cx="5669280" cy="868680"/>
          </a:xfrm>
          <a:prstGeom prst="roundRect">
            <a:avLst>
              <a:gd name="adj" fmla="val 5000"/>
            </a:avLst>
          </a:prstGeom>
          <a:solidFill>
            <a:srgbClr val="EEF2F4"/>
          </a:solidFill>
          <a:ln w="12700">
            <a:solidFill>
              <a:srgbClr val="EEF2F4"/>
            </a:solidFill>
            <a:prstDash val="solid"/>
          </a:ln>
        </p:spPr>
        <p:txBody>
          <a:bodyPr/>
          <a:lstStyle/>
          <a:p>
            <a:endParaRPr lang="en-AE"/>
          </a:p>
        </p:txBody>
      </p:sp>
      <p:sp>
        <p:nvSpPr>
          <p:cNvPr id="301" name="ImpactHeader"/>
          <p:cNvSpPr txBox="1"/>
          <p:nvPr/>
        </p:nvSpPr>
        <p:spPr>
          <a:xfrm>
            <a:off x="640080" y="5532120"/>
            <a:ext cx="5303520" cy="274320"/>
          </a:xfrm>
          <a:prstGeom prst="rect">
            <a:avLst/>
          </a:prstGeom>
          <a:noFill/>
          <a:ln/>
        </p:spPr>
        <p:txBody>
          <a:bodyPr wrap="square" lIns="0" tIns="0" rIns="0" bIns="0" rtlCol="0" anchor="t"/>
          <a:lstStyle/>
          <a:p>
            <a:pPr marL="0" indent="0">
              <a:buNone/>
            </a:pPr>
            <a:r>
              <a:rPr lang="en-US" sz="1100" b="1" kern="0" spc="100" dirty="0">
                <a:solidFill>
                  <a:srgbClr val="0E7C86"/>
                </a:solidFill>
                <a:latin typeface="Calibri" pitchFamily="34" charset="0"/>
                <a:ea typeface="Calibri" pitchFamily="34" charset="-122"/>
                <a:cs typeface="Calibri" pitchFamily="34" charset="-120"/>
              </a:rPr>
              <a:t>INTENDED IMPACT</a:t>
            </a:r>
            <a:endParaRPr lang="en-US" sz="1100" dirty="0"/>
          </a:p>
        </p:txBody>
      </p:sp>
      <p:sp>
        <p:nvSpPr>
          <p:cNvPr id="302" name="ImpactBody"/>
          <p:cNvSpPr txBox="1"/>
          <p:nvPr/>
        </p:nvSpPr>
        <p:spPr>
          <a:xfrm>
            <a:off x="640080" y="5852160"/>
            <a:ext cx="5303520" cy="411480"/>
          </a:xfrm>
          <a:prstGeom prst="rect">
            <a:avLst/>
          </a:prstGeom>
          <a:noFill/>
          <a:ln/>
        </p:spPr>
        <p:txBody>
          <a:bodyPr wrap="square" lIns="0" tIns="0" rIns="0" bIns="0" rtlCol="0" anchor="t"/>
          <a:lstStyle/>
          <a:p>
            <a:pPr marL="0" indent="0">
              <a:buNone/>
            </a:pPr>
            <a:r>
              <a:rPr lang="en-US" sz="1050" dirty="0">
                <a:solidFill>
                  <a:srgbClr val="0E3B4A"/>
                </a:solidFill>
                <a:latin typeface="Calibri" pitchFamily="34" charset="0"/>
                <a:ea typeface="Calibri" pitchFamily="34" charset="-122"/>
                <a:cs typeface="Calibri" pitchFamily="34" charset="-120"/>
              </a:rPr>
              <a:t>Shows DCT planners the likely hotel demand effect of a route change in advance, turning capacity planning into a shared, numbers-based conversation.</a:t>
            </a:r>
            <a:endParaRPr lang="en-US" sz="105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7A"/>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11247120" cy="685800"/>
          </a:xfrm>
          <a:prstGeom prst="rect">
            <a:avLst/>
          </a:prstGeom>
          <a:noFill/>
          <a:ln/>
        </p:spPr>
        <p:txBody>
          <a:bodyPr wrap="square" lIns="0" tIns="0" rIns="0" bIns="0" rtlCol="0" anchor="ctr"/>
          <a:lstStyle/>
          <a:p>
            <a:pPr marL="0" indent="0" algn="l">
              <a:buNone/>
            </a:pPr>
            <a:r>
              <a:rPr lang="en-US" sz="2800" b="1" dirty="0">
                <a:solidFill>
                  <a:srgbClr val="0E3B4A"/>
                </a:solidFill>
                <a:latin typeface="Cambria" pitchFamily="34" charset="0"/>
                <a:ea typeface="Cambria" pitchFamily="34" charset="-122"/>
                <a:cs typeface="Cambria" pitchFamily="34" charset="-120"/>
              </a:rPr>
              <a:t>The working prototype, screen by screen</a:t>
            </a:r>
            <a:endParaRPr lang="en-US" sz="2800" dirty="0"/>
          </a:p>
        </p:txBody>
      </p:sp>
      <p:sp>
        <p:nvSpPr>
          <p:cNvPr id="3" name="Subtitle"/>
          <p:cNvSpPr txBox="1"/>
          <p:nvPr/>
        </p:nvSpPr>
        <p:spPr>
          <a:xfrm>
            <a:off x="457200" y="1005840"/>
            <a:ext cx="11247120" cy="365760"/>
          </a:xfrm>
          <a:prstGeom prst="rect">
            <a:avLst/>
          </a:prstGeom>
          <a:noFill/>
          <a:ln/>
        </p:spPr>
        <p:txBody>
          <a:bodyPr wrap="square" lIns="0" tIns="0" rIns="0" bIns="0" rtlCol="0" anchor="t"/>
          <a:lstStyle/>
          <a:p>
            <a:pPr marL="0" indent="0">
              <a:buNone/>
            </a:pPr>
            <a:r>
              <a:rPr lang="en-US" sz="1400" dirty="0">
                <a:solidFill>
                  <a:srgbClr val="5B6B7A"/>
                </a:solidFill>
                <a:latin typeface="Calibri" pitchFamily="34" charset="0"/>
                <a:ea typeface="Calibri" pitchFamily="34" charset="-122"/>
                <a:cs typeface="Calibri" pitchFamily="34" charset="-120"/>
              </a:rPr>
              <a:t>Live screenshots from the standalone web app — not mockups</a:t>
            </a:r>
            <a:endParaRPr lang="en-US" sz="1400" dirty="0"/>
          </a:p>
        </p:txBody>
      </p:sp>
      <p:sp>
        <p:nvSpPr>
          <p:cNvPr id="101" name="Scenario StudioTag"/>
          <p:cNvSpPr txBox="1"/>
          <p:nvPr/>
        </p:nvSpPr>
        <p:spPr>
          <a:xfrm>
            <a:off x="457200" y="3876162"/>
            <a:ext cx="3520440" cy="274320"/>
          </a:xfrm>
          <a:prstGeom prst="rect">
            <a:avLst/>
          </a:prstGeom>
          <a:noFill/>
          <a:ln/>
        </p:spPr>
        <p:txBody>
          <a:bodyPr wrap="square" lIns="0" tIns="0" rIns="0" bIns="0" rtlCol="0" anchor="t"/>
          <a:lstStyle/>
          <a:p>
            <a:pPr marL="0" indent="0">
              <a:buNone/>
            </a:pPr>
            <a:r>
              <a:rPr lang="en-US" sz="1300" b="1" dirty="0">
                <a:solidFill>
                  <a:srgbClr val="0E7C86"/>
                </a:solidFill>
                <a:latin typeface="Calibri" pitchFamily="34" charset="0"/>
                <a:ea typeface="Calibri" pitchFamily="34" charset="-122"/>
                <a:cs typeface="Calibri" pitchFamily="34" charset="-120"/>
              </a:rPr>
              <a:t>Scenario Studio</a:t>
            </a:r>
            <a:endParaRPr lang="en-US" sz="1300" dirty="0"/>
          </a:p>
        </p:txBody>
      </p:sp>
      <p:sp>
        <p:nvSpPr>
          <p:cNvPr id="102" name="Scenario StudioCaption"/>
          <p:cNvSpPr txBox="1"/>
          <p:nvPr/>
        </p:nvSpPr>
        <p:spPr>
          <a:xfrm>
            <a:off x="457200" y="4150482"/>
            <a:ext cx="3520440" cy="457200"/>
          </a:xfrm>
          <a:prstGeom prst="rect">
            <a:avLst/>
          </a:prstGeom>
          <a:noFill/>
          <a:ln/>
        </p:spPr>
        <p:txBody>
          <a:bodyPr wrap="square" lIns="0" tIns="0" rIns="0" bIns="0" rtlCol="0" anchor="t"/>
          <a:lstStyle/>
          <a:p>
            <a:pPr marL="0" indent="0">
              <a:buNone/>
            </a:pPr>
            <a:r>
              <a:rPr lang="en-US" sz="1100" dirty="0">
                <a:solidFill>
                  <a:srgbClr val="5B6B7A"/>
                </a:solidFill>
                <a:latin typeface="Calibri" pitchFamily="34" charset="0"/>
                <a:ea typeface="Calibri" pitchFamily="34" charset="-122"/>
                <a:cs typeface="Calibri" pitchFamily="34" charset="-120"/>
              </a:rPr>
              <a:t>Change dials, see check-ins and nights update live</a:t>
            </a:r>
            <a:endParaRPr lang="en-US" sz="1100" dirty="0"/>
          </a:p>
        </p:txBody>
      </p:sp>
      <p:sp>
        <p:nvSpPr>
          <p:cNvPr id="104" name="Country BridgeTag"/>
          <p:cNvSpPr txBox="1"/>
          <p:nvPr/>
        </p:nvSpPr>
        <p:spPr>
          <a:xfrm>
            <a:off x="4206240" y="3876162"/>
            <a:ext cx="3520440" cy="274320"/>
          </a:xfrm>
          <a:prstGeom prst="rect">
            <a:avLst/>
          </a:prstGeom>
          <a:noFill/>
          <a:ln/>
        </p:spPr>
        <p:txBody>
          <a:bodyPr wrap="square" lIns="0" tIns="0" rIns="0" bIns="0" rtlCol="0" anchor="t"/>
          <a:lstStyle/>
          <a:p>
            <a:pPr marL="0" indent="0">
              <a:buNone/>
            </a:pPr>
            <a:r>
              <a:rPr lang="en-US" sz="1300" b="1" dirty="0">
                <a:solidFill>
                  <a:srgbClr val="0E7C86"/>
                </a:solidFill>
                <a:latin typeface="Calibri" pitchFamily="34" charset="0"/>
                <a:ea typeface="Calibri" pitchFamily="34" charset="-122"/>
                <a:cs typeface="Calibri" pitchFamily="34" charset="-120"/>
              </a:rPr>
              <a:t>Country Bridge</a:t>
            </a:r>
            <a:endParaRPr lang="en-US" sz="1300" dirty="0"/>
          </a:p>
        </p:txBody>
      </p:sp>
      <p:sp>
        <p:nvSpPr>
          <p:cNvPr id="105" name="Country BridgeCaption"/>
          <p:cNvSpPr txBox="1"/>
          <p:nvPr/>
        </p:nvSpPr>
        <p:spPr>
          <a:xfrm>
            <a:off x="4206240" y="4150482"/>
            <a:ext cx="3520440" cy="457200"/>
          </a:xfrm>
          <a:prstGeom prst="rect">
            <a:avLst/>
          </a:prstGeom>
          <a:noFill/>
          <a:ln/>
        </p:spPr>
        <p:txBody>
          <a:bodyPr wrap="square" lIns="0" tIns="0" rIns="0" bIns="0" rtlCol="0" anchor="t"/>
          <a:lstStyle/>
          <a:p>
            <a:pPr marL="0" indent="0">
              <a:buNone/>
            </a:pPr>
            <a:r>
              <a:rPr lang="en-US" sz="1100" dirty="0">
                <a:solidFill>
                  <a:srgbClr val="5B6B7A"/>
                </a:solidFill>
                <a:latin typeface="Calibri" pitchFamily="34" charset="0"/>
                <a:ea typeface="Calibri" pitchFamily="34" charset="-122"/>
                <a:cs typeface="Calibri" pitchFamily="34" charset="-120"/>
              </a:rPr>
              <a:t>Splits the total across 45 likely nationalities</a:t>
            </a:r>
            <a:endParaRPr lang="en-US" sz="1100" dirty="0"/>
          </a:p>
        </p:txBody>
      </p:sp>
      <p:sp>
        <p:nvSpPr>
          <p:cNvPr id="107" name="Model TrustTag"/>
          <p:cNvSpPr txBox="1"/>
          <p:nvPr/>
        </p:nvSpPr>
        <p:spPr>
          <a:xfrm>
            <a:off x="7955280" y="3876162"/>
            <a:ext cx="3520440" cy="274320"/>
          </a:xfrm>
          <a:prstGeom prst="rect">
            <a:avLst/>
          </a:prstGeom>
          <a:noFill/>
          <a:ln/>
        </p:spPr>
        <p:txBody>
          <a:bodyPr wrap="square" lIns="0" tIns="0" rIns="0" bIns="0" rtlCol="0" anchor="t"/>
          <a:lstStyle/>
          <a:p>
            <a:pPr marL="0" indent="0">
              <a:buNone/>
            </a:pPr>
            <a:r>
              <a:rPr lang="en-US" sz="1300" b="1" dirty="0">
                <a:solidFill>
                  <a:srgbClr val="0E7C86"/>
                </a:solidFill>
                <a:latin typeface="Calibri" pitchFamily="34" charset="0"/>
                <a:ea typeface="Calibri" pitchFamily="34" charset="-122"/>
                <a:cs typeface="Calibri" pitchFamily="34" charset="-120"/>
              </a:rPr>
              <a:t>Model Trust</a:t>
            </a:r>
            <a:endParaRPr lang="en-US" sz="1300" dirty="0"/>
          </a:p>
        </p:txBody>
      </p:sp>
      <p:sp>
        <p:nvSpPr>
          <p:cNvPr id="108" name="Model TrustCaption"/>
          <p:cNvSpPr txBox="1"/>
          <p:nvPr/>
        </p:nvSpPr>
        <p:spPr>
          <a:xfrm>
            <a:off x="7955280" y="4150482"/>
            <a:ext cx="3520440" cy="457200"/>
          </a:xfrm>
          <a:prstGeom prst="rect">
            <a:avLst/>
          </a:prstGeom>
          <a:noFill/>
          <a:ln/>
        </p:spPr>
        <p:txBody>
          <a:bodyPr wrap="square" lIns="0" tIns="0" rIns="0" bIns="0" rtlCol="0" anchor="t"/>
          <a:lstStyle/>
          <a:p>
            <a:pPr marL="0" indent="0">
              <a:buNone/>
            </a:pPr>
            <a:r>
              <a:rPr lang="en-US" sz="1100" dirty="0">
                <a:solidFill>
                  <a:srgbClr val="5B6B7A"/>
                </a:solidFill>
                <a:latin typeface="Calibri" pitchFamily="34" charset="0"/>
                <a:ea typeface="Calibri" pitchFamily="34" charset="-122"/>
                <a:cs typeface="Calibri" pitchFamily="34" charset="-120"/>
              </a:rPr>
              <a:t>Actual vs. predicted, with both WMAPE scores</a:t>
            </a:r>
            <a:endParaRPr lang="en-US" sz="1100" dirty="0"/>
          </a:p>
        </p:txBody>
      </p:sp>
      <p:sp>
        <p:nvSpPr>
          <p:cNvPr id="190" name="FooterNote"/>
          <p:cNvSpPr txBox="1"/>
          <p:nvPr/>
        </p:nvSpPr>
        <p:spPr>
          <a:xfrm>
            <a:off x="457200" y="6080760"/>
            <a:ext cx="11247120" cy="365760"/>
          </a:xfrm>
          <a:prstGeom prst="rect">
            <a:avLst/>
          </a:prstGeom>
          <a:noFill/>
          <a:ln/>
        </p:spPr>
        <p:txBody>
          <a:bodyPr wrap="square" lIns="0" tIns="0" rIns="0" bIns="0" rtlCol="0" anchor="t"/>
          <a:lstStyle/>
          <a:p>
            <a:pPr marL="0" indent="0">
              <a:buNone/>
            </a:pPr>
            <a:r>
              <a:rPr lang="en-US" sz="1100" i="1" dirty="0">
                <a:solidFill>
                  <a:srgbClr val="5B6B7A"/>
                </a:solidFill>
                <a:latin typeface="Calibri" pitchFamily="34" charset="0"/>
                <a:ea typeface="Calibri" pitchFamily="34" charset="-122"/>
                <a:cs typeface="Calibri" pitchFamily="34" charset="-120"/>
              </a:rPr>
              <a:t>A fourth page, Plain Language, turns these same numbers into planner-ready sentences. One standalone HTML file, 33 departure countries, no server required.</a:t>
            </a:r>
            <a:endParaRPr lang="en-US" sz="1100" i="1"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7A"/>
                </a:solidFill>
              </a:defRPr>
            </a:lvl1pPr>
          </a:lstStyle>
          <a:p>
            <a:pPr algn="r"/>
            <a:fld id="{F7021451-1387-4CA6-816F-3879F97B5CBC}" type="slidenum">
              <a:rPr lang="en-US" b="0"/>
              <a:t>9</a:t>
            </a:fld>
            <a:endParaRPr lang="en-US"/>
          </a:p>
        </p:txBody>
      </p:sp>
      <p:pic>
        <p:nvPicPr>
          <p:cNvPr id="4" name="Picture 3">
            <a:extLst>
              <a:ext uri="{FF2B5EF4-FFF2-40B4-BE49-F238E27FC236}">
                <a16:creationId xmlns:a16="http://schemas.microsoft.com/office/drawing/2014/main" id="{0606B0EF-E759-6518-9A04-133B68C8D23E}"/>
              </a:ext>
            </a:extLst>
          </p:cNvPr>
          <p:cNvPicPr>
            <a:picLocks noChangeAspect="1"/>
          </p:cNvPicPr>
          <p:nvPr/>
        </p:nvPicPr>
        <p:blipFill>
          <a:blip r:embed="rId2"/>
          <a:stretch>
            <a:fillRect/>
          </a:stretch>
        </p:blipFill>
        <p:spPr>
          <a:xfrm>
            <a:off x="549471" y="1545699"/>
            <a:ext cx="3335898" cy="2156364"/>
          </a:xfrm>
          <a:prstGeom prst="rect">
            <a:avLst/>
          </a:prstGeom>
        </p:spPr>
      </p:pic>
      <p:pic>
        <p:nvPicPr>
          <p:cNvPr id="5" name="Picture 4">
            <a:extLst>
              <a:ext uri="{FF2B5EF4-FFF2-40B4-BE49-F238E27FC236}">
                <a16:creationId xmlns:a16="http://schemas.microsoft.com/office/drawing/2014/main" id="{79BC2D4F-472E-8EAD-F4F1-9F5848D62E78}"/>
              </a:ext>
            </a:extLst>
          </p:cNvPr>
          <p:cNvPicPr>
            <a:picLocks noChangeAspect="1"/>
          </p:cNvPicPr>
          <p:nvPr/>
        </p:nvPicPr>
        <p:blipFill>
          <a:blip r:embed="rId3"/>
          <a:stretch>
            <a:fillRect/>
          </a:stretch>
        </p:blipFill>
        <p:spPr>
          <a:xfrm>
            <a:off x="4206240" y="1568558"/>
            <a:ext cx="3335899" cy="2156365"/>
          </a:xfrm>
          <a:prstGeom prst="rect">
            <a:avLst/>
          </a:prstGeom>
        </p:spPr>
      </p:pic>
      <p:pic>
        <p:nvPicPr>
          <p:cNvPr id="6" name="Picture 5">
            <a:extLst>
              <a:ext uri="{FF2B5EF4-FFF2-40B4-BE49-F238E27FC236}">
                <a16:creationId xmlns:a16="http://schemas.microsoft.com/office/drawing/2014/main" id="{833B98F6-F1B9-EFEB-85D0-C6D9867C89F0}"/>
              </a:ext>
            </a:extLst>
          </p:cNvPr>
          <p:cNvPicPr>
            <a:picLocks noChangeAspect="1"/>
          </p:cNvPicPr>
          <p:nvPr/>
        </p:nvPicPr>
        <p:blipFill>
          <a:blip r:embed="rId4"/>
          <a:stretch>
            <a:fillRect/>
          </a:stretch>
        </p:blipFill>
        <p:spPr>
          <a:xfrm>
            <a:off x="8184841" y="1562777"/>
            <a:ext cx="3428407" cy="221616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74320"/>
            <a:ext cx="11247120" cy="68580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Responsible use, known limits and the ask</a:t>
            </a:r>
            <a:endParaRPr lang="en-US" sz="2800" dirty="0"/>
          </a:p>
        </p:txBody>
      </p:sp>
      <p:sp>
        <p:nvSpPr>
          <p:cNvPr id="3" name="col0"/>
          <p:cNvSpPr/>
          <p:nvPr/>
        </p:nvSpPr>
        <p:spPr>
          <a:xfrm>
            <a:off x="457200" y="1188720"/>
            <a:ext cx="3611880" cy="4114800"/>
          </a:xfrm>
          <a:prstGeom prst="roundRect">
            <a:avLst>
              <a:gd name="adj" fmla="val 2025"/>
            </a:avLst>
          </a:prstGeom>
          <a:solidFill>
            <a:srgbClr val="15495B"/>
          </a:solidFill>
          <a:ln w="12700">
            <a:solidFill>
              <a:srgbClr val="15495B"/>
            </a:solidFill>
            <a:prstDash val="solid"/>
          </a:ln>
        </p:spPr>
        <p:txBody>
          <a:bodyPr/>
          <a:lstStyle/>
          <a:p>
            <a:endParaRPr lang="en-AE"/>
          </a:p>
        </p:txBody>
      </p:sp>
      <p:sp>
        <p:nvSpPr>
          <p:cNvPr id="4" name="Text 2"/>
          <p:cNvSpPr txBox="1"/>
          <p:nvPr/>
        </p:nvSpPr>
        <p:spPr>
          <a:xfrm>
            <a:off x="685800" y="1353312"/>
            <a:ext cx="3200400" cy="274320"/>
          </a:xfrm>
          <a:prstGeom prst="rect">
            <a:avLst/>
          </a:prstGeom>
          <a:noFill/>
          <a:ln/>
        </p:spPr>
        <p:txBody>
          <a:bodyPr wrap="square" lIns="0" tIns="0" rIns="0" bIns="0" rtlCol="0" anchor="t"/>
          <a:lstStyle/>
          <a:p>
            <a:pPr marL="0" indent="0">
              <a:buNone/>
            </a:pPr>
            <a:r>
              <a:rPr lang="en-US" sz="1200" b="1" kern="0" spc="100" dirty="0">
                <a:solidFill>
                  <a:srgbClr val="D4A03A"/>
                </a:solidFill>
                <a:latin typeface="Calibri" pitchFamily="34" charset="0"/>
                <a:ea typeface="Calibri" pitchFamily="34" charset="-122"/>
                <a:cs typeface="Calibri" pitchFamily="34" charset="-120"/>
              </a:rPr>
              <a:t>PRIVACY &amp; SAFETY</a:t>
            </a:r>
            <a:endParaRPr lang="en-US" sz="1200" dirty="0"/>
          </a:p>
        </p:txBody>
      </p:sp>
      <p:sp>
        <p:nvSpPr>
          <p:cNvPr id="5" name="Text 3"/>
          <p:cNvSpPr txBox="1"/>
          <p:nvPr/>
        </p:nvSpPr>
        <p:spPr>
          <a:xfrm>
            <a:off x="685800" y="1691640"/>
            <a:ext cx="3200400" cy="356616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Aggregate country-month data only: no names, passports, bookings or emails</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Standalone HTML runs locally; no external API receives the data</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Overrides change the browser session only; they should cite a named source (not stored in the prototype)</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Outputs are discussion prompts; a human approves decisions</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83.7/16.3 time split stops data leakage. It is model governance, not cybersecurity</a:t>
            </a:r>
            <a:endParaRPr lang="en-US" sz="1300" dirty="0"/>
          </a:p>
        </p:txBody>
      </p:sp>
      <p:sp>
        <p:nvSpPr>
          <p:cNvPr id="6" name="col1"/>
          <p:cNvSpPr/>
          <p:nvPr/>
        </p:nvSpPr>
        <p:spPr>
          <a:xfrm>
            <a:off x="4251960" y="1188720"/>
            <a:ext cx="3611880" cy="4114800"/>
          </a:xfrm>
          <a:prstGeom prst="roundRect">
            <a:avLst>
              <a:gd name="adj" fmla="val 2025"/>
            </a:avLst>
          </a:prstGeom>
          <a:solidFill>
            <a:srgbClr val="15495B"/>
          </a:solidFill>
          <a:ln w="12700">
            <a:solidFill>
              <a:srgbClr val="15495B"/>
            </a:solidFill>
            <a:prstDash val="solid"/>
          </a:ln>
        </p:spPr>
        <p:txBody>
          <a:bodyPr/>
          <a:lstStyle/>
          <a:p>
            <a:endParaRPr lang="en-AE"/>
          </a:p>
        </p:txBody>
      </p:sp>
      <p:sp>
        <p:nvSpPr>
          <p:cNvPr id="7" name="Text 5"/>
          <p:cNvSpPr txBox="1"/>
          <p:nvPr/>
        </p:nvSpPr>
        <p:spPr>
          <a:xfrm>
            <a:off x="4480560" y="1353312"/>
            <a:ext cx="3200400" cy="274320"/>
          </a:xfrm>
          <a:prstGeom prst="rect">
            <a:avLst/>
          </a:prstGeom>
          <a:noFill/>
          <a:ln/>
        </p:spPr>
        <p:txBody>
          <a:bodyPr wrap="square" lIns="0" tIns="0" rIns="0" bIns="0" rtlCol="0" anchor="t"/>
          <a:lstStyle/>
          <a:p>
            <a:pPr marL="0" indent="0">
              <a:buNone/>
            </a:pPr>
            <a:r>
              <a:rPr lang="en-US" sz="1200" b="1" kern="0" spc="100" dirty="0">
                <a:solidFill>
                  <a:srgbClr val="D4A03A"/>
                </a:solidFill>
                <a:latin typeface="Calibri" pitchFamily="34" charset="0"/>
                <a:ea typeface="Calibri" pitchFamily="34" charset="-122"/>
                <a:cs typeface="Calibri" pitchFamily="34" charset="-120"/>
              </a:rPr>
              <a:t>KNOWN LIMITATIONS</a:t>
            </a:r>
            <a:endParaRPr lang="en-US" sz="1200" dirty="0"/>
          </a:p>
        </p:txBody>
      </p:sp>
      <p:sp>
        <p:nvSpPr>
          <p:cNvPr id="8" name="Text 6"/>
          <p:cNvSpPr txBox="1"/>
          <p:nvPr/>
        </p:nvSpPr>
        <p:spPr>
          <a:xfrm>
            <a:off x="4480560" y="1691640"/>
            <a:ext cx="3200400" cy="356616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Bridge is statistical: cannot identify any traveller</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Conversion merges purpose, residency and lodging choice</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No room inventory, events, fares or hotel prices</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Mixed 2022 vs. later flight grain; short history</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P10/P90 from only 7 months; assistant is rule-based</a:t>
            </a:r>
            <a:endParaRPr lang="en-US" sz="1300" dirty="0"/>
          </a:p>
        </p:txBody>
      </p:sp>
      <p:sp>
        <p:nvSpPr>
          <p:cNvPr id="9" name="col2"/>
          <p:cNvSpPr/>
          <p:nvPr/>
        </p:nvSpPr>
        <p:spPr>
          <a:xfrm>
            <a:off x="8046720" y="1188720"/>
            <a:ext cx="3611880" cy="4114800"/>
          </a:xfrm>
          <a:prstGeom prst="roundRect">
            <a:avLst>
              <a:gd name="adj" fmla="val 2025"/>
            </a:avLst>
          </a:prstGeom>
          <a:solidFill>
            <a:srgbClr val="15495B"/>
          </a:solidFill>
          <a:ln w="12700">
            <a:solidFill>
              <a:srgbClr val="15495B"/>
            </a:solidFill>
            <a:prstDash val="solid"/>
          </a:ln>
        </p:spPr>
        <p:txBody>
          <a:bodyPr/>
          <a:lstStyle/>
          <a:p>
            <a:endParaRPr lang="en-AE"/>
          </a:p>
        </p:txBody>
      </p:sp>
      <p:sp>
        <p:nvSpPr>
          <p:cNvPr id="10" name="Text 8"/>
          <p:cNvSpPr txBox="1"/>
          <p:nvPr/>
        </p:nvSpPr>
        <p:spPr>
          <a:xfrm>
            <a:off x="8275320" y="1353312"/>
            <a:ext cx="3200400" cy="274320"/>
          </a:xfrm>
          <a:prstGeom prst="rect">
            <a:avLst/>
          </a:prstGeom>
          <a:noFill/>
          <a:ln/>
        </p:spPr>
        <p:txBody>
          <a:bodyPr wrap="square" lIns="0" tIns="0" rIns="0" bIns="0" rtlCol="0" anchor="t"/>
          <a:lstStyle/>
          <a:p>
            <a:pPr marL="0" indent="0">
              <a:buNone/>
            </a:pPr>
            <a:r>
              <a:rPr lang="en-US" sz="1200" b="1" kern="0" spc="100" dirty="0">
                <a:solidFill>
                  <a:srgbClr val="D4A03A"/>
                </a:solidFill>
                <a:latin typeface="Calibri" pitchFamily="34" charset="0"/>
                <a:ea typeface="Calibri" pitchFamily="34" charset="-122"/>
                <a:cs typeface="Calibri" pitchFamily="34" charset="-120"/>
              </a:rPr>
              <a:t>NEXT STEPS</a:t>
            </a:r>
            <a:endParaRPr lang="en-US" sz="1200" dirty="0"/>
          </a:p>
        </p:txBody>
      </p:sp>
      <p:sp>
        <p:nvSpPr>
          <p:cNvPr id="11" name="Text 9"/>
          <p:cNvSpPr txBox="1"/>
          <p:nvPr/>
        </p:nvSpPr>
        <p:spPr>
          <a:xfrm>
            <a:off x="8275320" y="1691640"/>
            <a:ext cx="3200400" cy="356616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Pilot with DCT aviation and hotel planners on protected data</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Add purpose-of-travel, route-to-nationality, events, inventory, schedules and fares</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Production: access control, encryption, audit logs, versioned data, minimum-count suppression</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Retrain monthly, monitor drift, use bootstrapped intervals</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Optional governed LLM for the sentence box, returning only validated fields</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If shortlisted: rehearse the live demo end-to-end, run it live against new, unrehearsed routes in front of judges, and record a timed walkthrough video</a:t>
            </a:r>
            <a:endParaRPr lang="en-US" sz="1300" dirty="0"/>
          </a:p>
        </p:txBody>
      </p:sp>
      <p:sp>
        <p:nvSpPr>
          <p:cNvPr id="12" name="Text 10"/>
          <p:cNvSpPr txBox="1"/>
          <p:nvPr/>
        </p:nvSpPr>
        <p:spPr>
          <a:xfrm>
            <a:off x="457200" y="5577840"/>
            <a:ext cx="11247120" cy="457200"/>
          </a:xfrm>
          <a:prstGeom prst="rect">
            <a:avLst/>
          </a:prstGeom>
          <a:noFill/>
          <a:ln/>
        </p:spPr>
        <p:txBody>
          <a:bodyPr wrap="square" lIns="0" tIns="0" rIns="0" bIns="0" rtlCol="0" anchor="t"/>
          <a:lstStyle/>
          <a:p>
            <a:pPr marL="0" indent="0">
              <a:buNone/>
            </a:pPr>
            <a:r>
              <a:rPr lang="en-US" sz="1600" b="1" dirty="0">
                <a:solidFill>
                  <a:srgbClr val="D4A03A"/>
                </a:solidFill>
                <a:latin typeface="Calibri" pitchFamily="34" charset="0"/>
                <a:ea typeface="Calibri" pitchFamily="34" charset="-122"/>
                <a:cs typeface="Calibri" pitchFamily="34" charset="-120"/>
              </a:rPr>
              <a:t>Ask: a short DCT pilot to test assumptions, then replace inferred bridge weights with DCT’s richer evidence.</a:t>
            </a:r>
            <a:endParaRPr lang="en-US" sz="16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A9C3C9"/>
                </a:solidFill>
              </a:defRPr>
            </a:lvl1pPr>
          </a:lstStyle>
          <a:p>
            <a:pPr algn="r"/>
            <a:fld id="{F7021451-1387-4CA6-816F-3879F97B5CBC}" type="slidenum">
              <a:rPr lang="en-US" b="0"/>
              <a:t>10</a:t>
            </a:fld>
            <a:endParaRPr lang="en-US"/>
          </a:p>
        </p:txBody>
      </p:sp>
    </p:spTree>
  </p:cSld>
  <p:clrMapOvr>
    <a:masterClrMapping/>
  </p:clrMapOvr>
</p:sld>
</file>

<file path=ppt/theme/theme1.xml><?xml version="1.0" encoding="utf-8"?>
<a:theme xmlns:a="http://schemas.openxmlformats.org/drawingml/2006/main" name="Air2Stay Summary">
  <a:themeElements>
    <a:clrScheme name="Air2Stay Summary">
      <a:dk1>
        <a:srgbClr val="1B2430"/>
      </a:dk1>
      <a:lt1>
        <a:srgbClr val="FFFFFF"/>
      </a:lt1>
      <a:dk2>
        <a:srgbClr val="0E3B4A"/>
      </a:dk2>
      <a:lt2>
        <a:srgbClr val="EEF2F4"/>
      </a:lt2>
      <a:accent1>
        <a:srgbClr val="0E7C86"/>
      </a:accent1>
      <a:accent2>
        <a:srgbClr val="D4A03A"/>
      </a:accent2>
      <a:accent3>
        <a:srgbClr val="5B6B7A"/>
      </a:accent3>
      <a:accent4>
        <a:srgbClr val="C8553D"/>
      </a:accent4>
      <a:accent5>
        <a:srgbClr val="7FB7BE"/>
      </a:accent5>
      <a:accent6>
        <a:srgbClr val="2E4057"/>
      </a:accent6>
      <a:hlink>
        <a:srgbClr val="0E7C86"/>
      </a:hlink>
      <a:folHlink>
        <a:srgbClr val="5B6B7A"/>
      </a:folHlink>
    </a:clrScheme>
    <a:fontScheme name="Air2Stay Summa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2669</Words>
  <Application>Microsoft Macintosh PowerPoint</Application>
  <PresentationFormat>Widescreen</PresentationFormat>
  <Paragraphs>272</Paragraphs>
  <Slides>10</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Arial</vt:lpstr>
      <vt:lpstr>Calibri</vt:lpstr>
      <vt:lpstr>Cambria</vt:lpstr>
      <vt:lpstr>Air2Stay Summary</vt:lpstr>
      <vt:lpstr>PowerPoint Presentation</vt:lpstr>
      <vt:lpstr>Team Air2Stay</vt:lpstr>
      <vt:lpstr>Flight data and hotel data mean different things by “country”</vt:lpstr>
      <vt:lpstr>Every number comes from six supplied files</vt:lpstr>
      <vt:lpstr>A five-step chain turns airline seats into hotel guest nights</vt:lpstr>
      <vt:lpstr>The Country Bridge splits demand across 45 nationalities</vt:lpstr>
      <vt:lpstr>Tested on 7 later months it never trained on</vt:lpstr>
      <vt:lpstr>Ranges, sensitivity and data support show what to trust</vt:lpstr>
      <vt:lpstr>The working prototype, screen by screen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Air2Stay — summary deck</dc:title>
  <dc:subject>PptxGenJS Presentation</dc:subject>
  <dc:creator>Air2Stay team</dc:creator>
  <cp:lastModifiedBy>Arbab Hussain Zaidi</cp:lastModifiedBy>
  <cp:revision>3</cp:revision>
  <dcterms:created xsi:type="dcterms:W3CDTF">2026-10-07T04:50:08Z</dcterms:created>
  <dcterms:modified xsi:type="dcterms:W3CDTF">2026-10-10T18:56:53Z</dcterms:modified>
</cp:coreProperties>
</file>